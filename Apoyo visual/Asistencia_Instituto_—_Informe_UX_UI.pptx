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Inter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1016000" y="1905000"/>
            <a:ext cx="1371600" cy="1270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3" name="corner-top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corner-top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5" name="corner-bottom-h"/>
          <p:cNvSpPr/>
          <p:nvPr/>
        </p:nvSpPr>
        <p:spPr>
          <a:xfrm>
            <a:off x="762000" y="8382000"/>
            <a:ext cx="12065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6" name="corner-bottom-v"/>
          <p:cNvSpPr/>
          <p:nvPr/>
        </p:nvSpPr>
        <p:spPr>
          <a:xfrm>
            <a:off x="762000" y="7429500"/>
            <a:ext cx="9144" cy="9525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pic>
        <p:nvPicPr>
          <p:cNvPr id="7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041400"/>
            <a:ext cx="482600" cy="482600"/>
          </a:xfrm>
          <a:prstGeom prst="rect">
            <a:avLst/>
          </a:prstGeom>
        </p:spPr>
      </p:pic>
      <p:sp>
        <p:nvSpPr>
          <p:cNvPr id="8" name="cover-kicker"/>
          <p:cNvSpPr/>
          <p:nvPr/>
        </p:nvSpPr>
        <p:spPr>
          <a:xfrm>
            <a:off x="1676400" y="1117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INSTITUTO DE INFORMÁTICA · MVP MÓVIL</a:t>
            </a:r>
            <a:endParaRPr lang="en-US" sz="1500" dirty="0"/>
          </a:p>
        </p:txBody>
      </p:sp>
      <p:sp>
        <p:nvSpPr>
          <p:cNvPr id="9" name="cover-title"/>
          <p:cNvSpPr/>
          <p:nvPr/>
        </p:nvSpPr>
        <p:spPr>
          <a:xfrm>
            <a:off x="1016000" y="2336800"/>
            <a:ext cx="10033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48"/>
              </a:lnSpc>
              <a:buNone/>
            </a:pPr>
            <a:r>
              <a:rPr lang="en-US" altLang="en-US" sz="6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Instituto</a:t>
            </a:r>
            <a:endParaRPr lang="en-US" sz="6200" dirty="0"/>
          </a:p>
        </p:txBody>
      </p:sp>
      <p:sp>
        <p:nvSpPr>
          <p:cNvPr id="10" name="cover-subtitle"/>
          <p:cNvSpPr/>
          <p:nvPr/>
        </p:nvSpPr>
        <p:spPr>
          <a:xfrm>
            <a:off x="1066800" y="4394200"/>
            <a:ext cx="87630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UX/UI para una experiencia de asistencia y seguimiento académico contextual.</a:t>
            </a:r>
            <a:endParaRPr lang="en-US" sz="2400" dirty="0"/>
          </a:p>
        </p:txBody>
      </p:sp>
      <p:sp>
        <p:nvSpPr>
          <p:cNvPr id="11" name="tag-card"/>
          <p:cNvSpPr/>
          <p:nvPr/>
        </p:nvSpPr>
        <p:spPr>
          <a:xfrm>
            <a:off x="1066800" y="5842000"/>
            <a:ext cx="5334000" cy="812800"/>
          </a:xfrm>
          <a:prstGeom prst="roundRect">
            <a:avLst>
              <a:gd name="adj" fmla="val 25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ag-card-text"/>
          <p:cNvSpPr/>
          <p:nvPr/>
        </p:nvSpPr>
        <p:spPr>
          <a:xfrm>
            <a:off x="1320800" y="60579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desarrollado con asistencia de IA</a:t>
            </a:r>
            <a:endParaRPr lang="en-US" sz="1700" dirty="0"/>
          </a:p>
        </p:txBody>
      </p:sp>
      <p:sp>
        <p:nvSpPr>
          <p:cNvPr id="13" name="phone-shadow"/>
          <p:cNvSpPr/>
          <p:nvPr/>
        </p:nvSpPr>
        <p:spPr>
          <a:xfrm>
            <a:off x="12065000" y="1905000"/>
            <a:ext cx="2984500" cy="5588000"/>
          </a:xfrm>
          <a:prstGeom prst="roundRect">
            <a:avLst>
              <a:gd name="adj" fmla="val 11915"/>
            </a:avLst>
          </a:prstGeom>
          <a:solidFill>
            <a:srgbClr val="000000">
              <a:alpha val="33000"/>
            </a:srgbClr>
          </a:solidFill>
          <a:ln/>
        </p:spPr>
      </p:sp>
      <p:sp>
        <p:nvSpPr>
          <p:cNvPr id="14" name="phone-frame"/>
          <p:cNvSpPr/>
          <p:nvPr/>
        </p:nvSpPr>
        <p:spPr>
          <a:xfrm>
            <a:off x="11938000" y="1778000"/>
            <a:ext cx="2984500" cy="5588000"/>
          </a:xfrm>
          <a:prstGeom prst="roundRect">
            <a:avLst>
              <a:gd name="adj" fmla="val 11915"/>
            </a:avLst>
          </a:prstGeom>
          <a:solidFill>
            <a:srgbClr val="FFFFFF"/>
          </a:solidFill>
          <a:ln/>
        </p:spPr>
      </p:sp>
      <p:sp>
        <p:nvSpPr>
          <p:cNvPr id="15" name="phone-top"/>
          <p:cNvSpPr/>
          <p:nvPr/>
        </p:nvSpPr>
        <p:spPr>
          <a:xfrm>
            <a:off x="12192000" y="2057400"/>
            <a:ext cx="2476500" cy="965200"/>
          </a:xfrm>
          <a:prstGeom prst="roundRect">
            <a:avLst>
              <a:gd name="adj" fmla="val 23684"/>
            </a:avLst>
          </a:prstGeom>
          <a:solidFill>
            <a:srgbClr val="0B1F3A"/>
          </a:solidFill>
          <a:ln/>
        </p:spPr>
      </p:sp>
      <p:pic>
        <p:nvPicPr>
          <p:cNvPr id="16" name="phone-top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0" y="2298700"/>
            <a:ext cx="304800" cy="304800"/>
          </a:xfrm>
          <a:prstGeom prst="rect">
            <a:avLst/>
          </a:prstGeom>
        </p:spPr>
      </p:pic>
      <p:sp>
        <p:nvSpPr>
          <p:cNvPr id="17" name="phone-top-title"/>
          <p:cNvSpPr/>
          <p:nvPr/>
        </p:nvSpPr>
        <p:spPr>
          <a:xfrm>
            <a:off x="12839700" y="22606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</a:t>
            </a:r>
            <a:endParaRPr lang="en-US" sz="1200" dirty="0"/>
          </a:p>
        </p:txBody>
      </p:sp>
      <p:sp>
        <p:nvSpPr>
          <p:cNvPr id="18" name="phone-top-name"/>
          <p:cNvSpPr/>
          <p:nvPr/>
        </p:nvSpPr>
        <p:spPr>
          <a:xfrm>
            <a:off x="12839700" y="2501900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Sofía Ramírez</a:t>
            </a:r>
            <a:endParaRPr lang="en-US" sz="1600" dirty="0"/>
          </a:p>
        </p:txBody>
      </p:sp>
      <p:sp>
        <p:nvSpPr>
          <p:cNvPr id="19" name="phone-card-one"/>
          <p:cNvSpPr/>
          <p:nvPr/>
        </p:nvSpPr>
        <p:spPr>
          <a:xfrm>
            <a:off x="12192000" y="3302000"/>
            <a:ext cx="2476500" cy="1104900"/>
          </a:xfrm>
          <a:prstGeom prst="roundRect">
            <a:avLst>
              <a:gd name="adj" fmla="val 17241"/>
            </a:avLst>
          </a:prstGeom>
          <a:solidFill>
            <a:srgbClr val="D7DEE8"/>
          </a:solidFill>
          <a:ln/>
        </p:spPr>
      </p:sp>
      <p:sp>
        <p:nvSpPr>
          <p:cNvPr id="20" name="phone-card-one-title"/>
          <p:cNvSpPr/>
          <p:nvPr/>
        </p:nvSpPr>
        <p:spPr>
          <a:xfrm>
            <a:off x="12382500" y="3505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Datos</a:t>
            </a:r>
            <a:endParaRPr lang="en-US" sz="1400" dirty="0"/>
          </a:p>
        </p:txBody>
      </p:sp>
      <p:sp>
        <p:nvSpPr>
          <p:cNvPr id="21" name="phone-card-one-detail"/>
          <p:cNvSpPr/>
          <p:nvPr/>
        </p:nvSpPr>
        <p:spPr>
          <a:xfrm>
            <a:off x="12382500" y="38227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· Actividades</a:t>
            </a:r>
            <a:endParaRPr lang="en-US" sz="1200" dirty="0"/>
          </a:p>
        </p:txBody>
      </p:sp>
      <p:sp>
        <p:nvSpPr>
          <p:cNvPr id="22" name="phone-chip-one"/>
          <p:cNvSpPr/>
          <p:nvPr/>
        </p:nvSpPr>
        <p:spPr>
          <a:xfrm>
            <a:off x="12382500" y="4102100"/>
            <a:ext cx="1092200" cy="1778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23" name="phone-card-two"/>
          <p:cNvSpPr/>
          <p:nvPr/>
        </p:nvSpPr>
        <p:spPr>
          <a:xfrm>
            <a:off x="12192000" y="4597400"/>
            <a:ext cx="2476500" cy="1104900"/>
          </a:xfrm>
          <a:prstGeom prst="roundRect">
            <a:avLst>
              <a:gd name="adj" fmla="val 17241"/>
            </a:avLst>
          </a:prstGeom>
          <a:solidFill>
            <a:srgbClr val="EAF6F1"/>
          </a:solidFill>
          <a:ln/>
        </p:spPr>
      </p:sp>
      <p:sp>
        <p:nvSpPr>
          <p:cNvPr id="24" name="phone-card-two-title"/>
          <p:cNvSpPr/>
          <p:nvPr/>
        </p:nvSpPr>
        <p:spPr>
          <a:xfrm>
            <a:off x="12382500" y="4800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 entregada</a:t>
            </a:r>
            <a:endParaRPr lang="en-US" sz="1400" dirty="0"/>
          </a:p>
        </p:txBody>
      </p:sp>
      <p:sp>
        <p:nvSpPr>
          <p:cNvPr id="25" name="phone-card-two-detail"/>
          <p:cNvSpPr/>
          <p:nvPr/>
        </p:nvSpPr>
        <p:spPr>
          <a:xfrm>
            <a:off x="12382500" y="51181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revisión docente</a:t>
            </a:r>
            <a:endParaRPr lang="en-US" sz="1200" dirty="0"/>
          </a:p>
        </p:txBody>
      </p:sp>
      <p:sp>
        <p:nvSpPr>
          <p:cNvPr id="26" name="phone-chip-two"/>
          <p:cNvSpPr/>
          <p:nvPr/>
        </p:nvSpPr>
        <p:spPr>
          <a:xfrm>
            <a:off x="12382500" y="5397500"/>
            <a:ext cx="914400" cy="177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7" name="cover-footer"/>
          <p:cNvSpPr/>
          <p:nvPr/>
        </p:nvSpPr>
        <p:spPr>
          <a:xfrm>
            <a:off x="1016000" y="8064500"/>
            <a:ext cx="698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Capacitación · Diseño, desarrollo y validación de un MVP</a:t>
            </a:r>
            <a:endParaRPr lang="en-US" sz="1400" dirty="0"/>
          </a:p>
        </p:txBody>
      </p:sp>
      <p:sp>
        <p:nvSpPr>
          <p:cNvPr id="28" name="slide-number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CONTEXTO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problema resuelve?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9779000" y="13208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académica suele quedar fragmentada entre canales y registros desconectados.</a:t>
            </a:r>
            <a:endParaRPr lang="en-US" sz="1900" dirty="0"/>
          </a:p>
        </p:txBody>
      </p:sp>
      <p:sp>
        <p:nvSpPr>
          <p:cNvPr id="7" name="problem-card-1"/>
          <p:cNvSpPr/>
          <p:nvPr/>
        </p:nvSpPr>
        <p:spPr>
          <a:xfrm>
            <a:off x="1016000" y="2921000"/>
            <a:ext cx="6807200" cy="2095500"/>
          </a:xfrm>
          <a:prstGeom prst="roundRect">
            <a:avLst>
              <a:gd name="adj" fmla="val 10909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problem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63900"/>
            <a:ext cx="406400" cy="406400"/>
          </a:xfrm>
          <a:prstGeom prst="rect">
            <a:avLst/>
          </a:prstGeom>
        </p:spPr>
      </p:pic>
      <p:sp>
        <p:nvSpPr>
          <p:cNvPr id="9" name="problem-title-1"/>
          <p:cNvSpPr/>
          <p:nvPr/>
        </p:nvSpPr>
        <p:spPr>
          <a:xfrm>
            <a:off x="2006600" y="32385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lenta o ambigua</a:t>
            </a:r>
            <a:endParaRPr lang="en-US" sz="2100" dirty="0"/>
          </a:p>
        </p:txBody>
      </p:sp>
      <p:sp>
        <p:nvSpPr>
          <p:cNvPr id="10" name="problem-body-1"/>
          <p:cNvSpPr/>
          <p:nvPr/>
        </p:nvSpPr>
        <p:spPr>
          <a:xfrm>
            <a:off x="1371600" y="39243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presencia demanda tiempo y puede generar dudas o duplicados.</a:t>
            </a:r>
            <a:endParaRPr lang="en-US" sz="1700" dirty="0"/>
          </a:p>
        </p:txBody>
      </p:sp>
      <p:sp>
        <p:nvSpPr>
          <p:cNvPr id="11" name="problem-card-2"/>
          <p:cNvSpPr/>
          <p:nvPr/>
        </p:nvSpPr>
        <p:spPr>
          <a:xfrm>
            <a:off x="8432800" y="2921000"/>
            <a:ext cx="6807200" cy="20955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problem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0" y="3263900"/>
            <a:ext cx="406400" cy="406400"/>
          </a:xfrm>
          <a:prstGeom prst="rect">
            <a:avLst/>
          </a:prstGeom>
        </p:spPr>
      </p:pic>
      <p:sp>
        <p:nvSpPr>
          <p:cNvPr id="13" name="problem-title-2"/>
          <p:cNvSpPr/>
          <p:nvPr/>
        </p:nvSpPr>
        <p:spPr>
          <a:xfrm>
            <a:off x="9423400" y="32385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dispersa</a:t>
            </a:r>
            <a:endParaRPr lang="en-US" sz="2100" dirty="0"/>
          </a:p>
        </p:txBody>
      </p:sp>
      <p:sp>
        <p:nvSpPr>
          <p:cNvPr id="14" name="problem-body-2"/>
          <p:cNvSpPr/>
          <p:nvPr/>
        </p:nvSpPr>
        <p:spPr>
          <a:xfrm>
            <a:off x="8788400" y="39243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Materias, notas, tareas y ausencias aparecen en lugares diferentes.</a:t>
            </a:r>
            <a:endParaRPr lang="en-US" sz="1700" dirty="0"/>
          </a:p>
        </p:txBody>
      </p:sp>
      <p:sp>
        <p:nvSpPr>
          <p:cNvPr id="15" name="problem-card-3"/>
          <p:cNvSpPr/>
          <p:nvPr/>
        </p:nvSpPr>
        <p:spPr>
          <a:xfrm>
            <a:off x="1016000" y="5397500"/>
            <a:ext cx="6807200" cy="20955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problem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740400"/>
            <a:ext cx="406400" cy="406400"/>
          </a:xfrm>
          <a:prstGeom prst="rect">
            <a:avLst/>
          </a:prstGeom>
        </p:spPr>
      </p:pic>
      <p:sp>
        <p:nvSpPr>
          <p:cNvPr id="17" name="problem-title-3"/>
          <p:cNvSpPr/>
          <p:nvPr/>
        </p:nvSpPr>
        <p:spPr>
          <a:xfrm>
            <a:off x="2006600" y="57150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sin trazabilidad</a:t>
            </a:r>
            <a:endParaRPr lang="en-US" sz="2100" dirty="0"/>
          </a:p>
        </p:txBody>
      </p:sp>
      <p:sp>
        <p:nvSpPr>
          <p:cNvPr id="18" name="problem-body-3"/>
          <p:cNvSpPr/>
          <p:nvPr/>
        </p:nvSpPr>
        <p:spPr>
          <a:xfrm>
            <a:off x="1371600" y="64008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siempre se sabe qué se entregó, qué falta revisar o cuál fue la devolución.</a:t>
            </a:r>
            <a:endParaRPr lang="en-US" sz="1700" dirty="0"/>
          </a:p>
        </p:txBody>
      </p:sp>
      <p:sp>
        <p:nvSpPr>
          <p:cNvPr id="19" name="problem-card-4"/>
          <p:cNvSpPr/>
          <p:nvPr/>
        </p:nvSpPr>
        <p:spPr>
          <a:xfrm>
            <a:off x="8432800" y="5397500"/>
            <a:ext cx="6807200" cy="2095500"/>
          </a:xfrm>
          <a:prstGeom prst="roundRect">
            <a:avLst>
              <a:gd name="adj" fmla="val 10909"/>
            </a:avLst>
          </a:prstGeom>
          <a:solidFill>
            <a:srgbClr val="FFF6D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0" name="problem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00" y="5740400"/>
            <a:ext cx="406400" cy="406400"/>
          </a:xfrm>
          <a:prstGeom prst="rect">
            <a:avLst/>
          </a:prstGeom>
        </p:spPr>
      </p:pic>
      <p:sp>
        <p:nvSpPr>
          <p:cNvPr id="21" name="problem-title-4"/>
          <p:cNvSpPr/>
          <p:nvPr/>
        </p:nvSpPr>
        <p:spPr>
          <a:xfrm>
            <a:off x="9423400" y="57150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Justificaciones informales</a:t>
            </a:r>
            <a:endParaRPr lang="en-US" sz="2100" dirty="0"/>
          </a:p>
        </p:txBody>
      </p:sp>
      <p:sp>
        <p:nvSpPr>
          <p:cNvPr id="22" name="problem-body-4"/>
          <p:cNvSpPr/>
          <p:nvPr/>
        </p:nvSpPr>
        <p:spPr>
          <a:xfrm>
            <a:off x="8788400" y="64008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Faltan evidencia, estado de revisión y una decisión explícita.</a:t>
            </a:r>
            <a:endParaRPr lang="en-US" sz="1700" dirty="0"/>
          </a:p>
        </p:txBody>
      </p:sp>
      <p:sp>
        <p:nvSpPr>
          <p:cNvPr id="23" name="slide-number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19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PROPUESTA DE VALOR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experiencia académica contextual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133600"/>
            <a:ext cx="1181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usuario ve el contexto y las decisiones que le corresponden.</a:t>
            </a:r>
            <a:endParaRPr lang="en-US" sz="2100" dirty="0"/>
          </a:p>
        </p:txBody>
      </p:sp>
      <p:sp>
        <p:nvSpPr>
          <p:cNvPr id="7" name="process-line"/>
          <p:cNvSpPr/>
          <p:nvPr/>
        </p:nvSpPr>
        <p:spPr>
          <a:xfrm>
            <a:off x="2222500" y="3581400"/>
            <a:ext cx="11176000" cy="9144"/>
          </a:xfrm>
          <a:prstGeom prst="line">
            <a:avLst/>
          </a:prstGeom>
          <a:ln w="63500">
            <a:solidFill>
              <a:srgbClr val="F4C542"/>
            </a:solidFill>
            <a:prstDash val="solid"/>
          </a:ln>
        </p:spPr>
      </p:sp>
      <p:sp>
        <p:nvSpPr>
          <p:cNvPr id="8" name="process-node-1"/>
          <p:cNvSpPr/>
          <p:nvPr/>
        </p:nvSpPr>
        <p:spPr>
          <a:xfrm>
            <a:off x="1778000" y="3136900"/>
            <a:ext cx="889000" cy="889000"/>
          </a:xfrm>
          <a:prstGeom prst="ellipse">
            <a:avLst/>
          </a:prstGeom>
          <a:solidFill>
            <a:srgbClr val="F4C542"/>
          </a:solidFill>
          <a:ln/>
        </p:spPr>
      </p:sp>
      <p:pic>
        <p:nvPicPr>
          <p:cNvPr id="9" name="process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0" y="3365500"/>
            <a:ext cx="431800" cy="431800"/>
          </a:xfrm>
          <a:prstGeom prst="rect">
            <a:avLst/>
          </a:prstGeom>
        </p:spPr>
      </p:pic>
      <p:sp>
        <p:nvSpPr>
          <p:cNvPr id="10" name="process-label-1"/>
          <p:cNvSpPr/>
          <p:nvPr/>
        </p:nvSpPr>
        <p:spPr>
          <a:xfrm>
            <a:off x="1244600" y="4191000"/>
            <a:ext cx="1955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</a:t>
            </a:r>
            <a:endParaRPr lang="en-US" sz="1700" dirty="0"/>
          </a:p>
        </p:txBody>
      </p:sp>
      <p:sp>
        <p:nvSpPr>
          <p:cNvPr id="11" name="process-node-2"/>
          <p:cNvSpPr/>
          <p:nvPr/>
        </p:nvSpPr>
        <p:spPr>
          <a:xfrm>
            <a:off x="5588000" y="3136900"/>
            <a:ext cx="889000" cy="889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process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00" y="3365500"/>
            <a:ext cx="431800" cy="431800"/>
          </a:xfrm>
          <a:prstGeom prst="rect">
            <a:avLst/>
          </a:prstGeom>
        </p:spPr>
      </p:pic>
      <p:sp>
        <p:nvSpPr>
          <p:cNvPr id="13" name="process-label-2"/>
          <p:cNvSpPr/>
          <p:nvPr/>
        </p:nvSpPr>
        <p:spPr>
          <a:xfrm>
            <a:off x="4927600" y="4191000"/>
            <a:ext cx="2209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QR</a:t>
            </a:r>
            <a:endParaRPr lang="en-US" sz="1700" dirty="0"/>
          </a:p>
        </p:txBody>
      </p:sp>
      <p:sp>
        <p:nvSpPr>
          <p:cNvPr id="14" name="process-node-3"/>
          <p:cNvSpPr/>
          <p:nvPr/>
        </p:nvSpPr>
        <p:spPr>
          <a:xfrm>
            <a:off x="9398000" y="3136900"/>
            <a:ext cx="889000" cy="889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process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3365500"/>
            <a:ext cx="431800" cy="431800"/>
          </a:xfrm>
          <a:prstGeom prst="rect">
            <a:avLst/>
          </a:prstGeom>
        </p:spPr>
      </p:pic>
      <p:sp>
        <p:nvSpPr>
          <p:cNvPr id="16" name="process-label-3"/>
          <p:cNvSpPr/>
          <p:nvPr/>
        </p:nvSpPr>
        <p:spPr>
          <a:xfrm>
            <a:off x="8712200" y="4191000"/>
            <a:ext cx="226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1700" dirty="0"/>
          </a:p>
        </p:txBody>
      </p:sp>
      <p:sp>
        <p:nvSpPr>
          <p:cNvPr id="17" name="process-node-4"/>
          <p:cNvSpPr/>
          <p:nvPr/>
        </p:nvSpPr>
        <p:spPr>
          <a:xfrm>
            <a:off x="13208000" y="3136900"/>
            <a:ext cx="889000" cy="8890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8" name="process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6600" y="3365500"/>
            <a:ext cx="431800" cy="431800"/>
          </a:xfrm>
          <a:prstGeom prst="rect">
            <a:avLst/>
          </a:prstGeom>
        </p:spPr>
      </p:pic>
      <p:sp>
        <p:nvSpPr>
          <p:cNvPr id="19" name="process-label-4"/>
          <p:cNvSpPr/>
          <p:nvPr/>
        </p:nvSpPr>
        <p:spPr>
          <a:xfrm>
            <a:off x="12471400" y="4191000"/>
            <a:ext cx="2349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</a:t>
            </a:r>
            <a:endParaRPr lang="en-US" sz="1700" dirty="0"/>
          </a:p>
        </p:txBody>
      </p:sp>
      <p:sp>
        <p:nvSpPr>
          <p:cNvPr id="20" name="feature-card-1"/>
          <p:cNvSpPr/>
          <p:nvPr/>
        </p:nvSpPr>
        <p:spPr>
          <a:xfrm>
            <a:off x="1016000" y="5334000"/>
            <a:ext cx="4368800" cy="24130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1" name="feature-icon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689600"/>
            <a:ext cx="406400" cy="406400"/>
          </a:xfrm>
          <a:prstGeom prst="rect">
            <a:avLst/>
          </a:prstGeom>
        </p:spPr>
      </p:pic>
      <p:sp>
        <p:nvSpPr>
          <p:cNvPr id="22" name="feature-title-1"/>
          <p:cNvSpPr/>
          <p:nvPr/>
        </p:nvSpPr>
        <p:spPr>
          <a:xfrm>
            <a:off x="1371600" y="635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Presencia ágil</a:t>
            </a:r>
            <a:endParaRPr lang="en-US" sz="2000" dirty="0"/>
          </a:p>
        </p:txBody>
      </p:sp>
      <p:sp>
        <p:nvSpPr>
          <p:cNvPr id="23" name="feature-body-1"/>
          <p:cNvSpPr/>
          <p:nvPr/>
        </p:nvSpPr>
        <p:spPr>
          <a:xfrm>
            <a:off x="1371600" y="6883400"/>
            <a:ext cx="3505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QR temporal por comisión, con validación de inscripción.</a:t>
            </a:r>
            <a:endParaRPr lang="en-US" sz="1600" dirty="0"/>
          </a:p>
        </p:txBody>
      </p:sp>
      <p:sp>
        <p:nvSpPr>
          <p:cNvPr id="24" name="feature-card-2"/>
          <p:cNvSpPr/>
          <p:nvPr/>
        </p:nvSpPr>
        <p:spPr>
          <a:xfrm>
            <a:off x="5943600" y="5334000"/>
            <a:ext cx="4368800" cy="2413000"/>
          </a:xfrm>
          <a:prstGeom prst="roundRect">
            <a:avLst>
              <a:gd name="adj" fmla="val 9474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5" name="feature-icon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5689600"/>
            <a:ext cx="406400" cy="406400"/>
          </a:xfrm>
          <a:prstGeom prst="rect">
            <a:avLst/>
          </a:prstGeom>
        </p:spPr>
      </p:pic>
      <p:sp>
        <p:nvSpPr>
          <p:cNvPr id="26" name="feature-title-2"/>
          <p:cNvSpPr/>
          <p:nvPr/>
        </p:nvSpPr>
        <p:spPr>
          <a:xfrm>
            <a:off x="6299200" y="635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como unidad</a:t>
            </a:r>
            <a:endParaRPr lang="en-US" sz="2000" dirty="0"/>
          </a:p>
        </p:txBody>
      </p:sp>
      <p:sp>
        <p:nvSpPr>
          <p:cNvPr id="27" name="feature-body-2"/>
          <p:cNvSpPr/>
          <p:nvPr/>
        </p:nvSpPr>
        <p:spPr>
          <a:xfrm>
            <a:off x="6299200" y="6883400"/>
            <a:ext cx="3505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Asistencia, nota y actividades reunidas en el mismo detalle.</a:t>
            </a:r>
            <a:endParaRPr lang="en-US" sz="1600" dirty="0"/>
          </a:p>
        </p:txBody>
      </p:sp>
      <p:sp>
        <p:nvSpPr>
          <p:cNvPr id="28" name="feature-card-3"/>
          <p:cNvSpPr/>
          <p:nvPr/>
        </p:nvSpPr>
        <p:spPr>
          <a:xfrm>
            <a:off x="10871200" y="5334000"/>
            <a:ext cx="4368800" cy="2413000"/>
          </a:xfrm>
          <a:prstGeom prst="roundRect">
            <a:avLst>
              <a:gd name="adj" fmla="val 9474"/>
            </a:avLst>
          </a:prstGeom>
          <a:solidFill>
            <a:srgbClr val="FFF6D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9" name="feature-icon-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6800" y="5689600"/>
            <a:ext cx="406400" cy="406400"/>
          </a:xfrm>
          <a:prstGeom prst="rect">
            <a:avLst/>
          </a:prstGeom>
        </p:spPr>
      </p:pic>
      <p:sp>
        <p:nvSpPr>
          <p:cNvPr id="30" name="feature-title-3"/>
          <p:cNvSpPr/>
          <p:nvPr/>
        </p:nvSpPr>
        <p:spPr>
          <a:xfrm>
            <a:off x="11226800" y="635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visible</a:t>
            </a:r>
            <a:endParaRPr lang="en-US" sz="2000" dirty="0"/>
          </a:p>
        </p:txBody>
      </p:sp>
      <p:sp>
        <p:nvSpPr>
          <p:cNvPr id="31" name="feature-body-3"/>
          <p:cNvSpPr/>
          <p:nvPr/>
        </p:nvSpPr>
        <p:spPr>
          <a:xfrm>
            <a:off x="11226800" y="6883400"/>
            <a:ext cx="3505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Entregas, devoluciones y justificaciones con estado explícito.</a:t>
            </a:r>
            <a:endParaRPr lang="en-US" sz="1600" dirty="0"/>
          </a:p>
        </p:txBody>
      </p:sp>
      <p:sp>
        <p:nvSpPr>
          <p:cNvPr id="32" name="slide-number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DISEÑO POR ROLES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perfiles, tres responsabilidades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133600"/>
            <a:ext cx="11049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identidad accede a una vista útil sin exponer opciones ajenas.</a:t>
            </a:r>
            <a:endParaRPr lang="en-US" sz="2000" dirty="0"/>
          </a:p>
        </p:txBody>
      </p:sp>
      <p:sp>
        <p:nvSpPr>
          <p:cNvPr id="7" name="role-card-student"/>
          <p:cNvSpPr/>
          <p:nvPr/>
        </p:nvSpPr>
        <p:spPr>
          <a:xfrm>
            <a:off x="1016000" y="2984500"/>
            <a:ext cx="4368800" cy="4648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role-accent-student"/>
          <p:cNvSpPr/>
          <p:nvPr/>
        </p:nvSpPr>
        <p:spPr>
          <a:xfrm>
            <a:off x="1016000" y="2984500"/>
            <a:ext cx="4368800" cy="1524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pic>
        <p:nvPicPr>
          <p:cNvPr id="9" name="role-icon-stude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467100"/>
            <a:ext cx="533400" cy="533400"/>
          </a:xfrm>
          <a:prstGeom prst="rect">
            <a:avLst/>
          </a:prstGeom>
        </p:spPr>
      </p:pic>
      <p:sp>
        <p:nvSpPr>
          <p:cNvPr id="10" name="role-title-student"/>
          <p:cNvSpPr/>
          <p:nvPr/>
        </p:nvSpPr>
        <p:spPr>
          <a:xfrm>
            <a:off x="1371600" y="42418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Alumno</a:t>
            </a:r>
            <a:endParaRPr lang="en-US" sz="2200" dirty="0"/>
          </a:p>
        </p:txBody>
      </p:sp>
      <p:sp>
        <p:nvSpPr>
          <p:cNvPr id="11" name="role-name-student"/>
          <p:cNvSpPr/>
          <p:nvPr/>
        </p:nvSpPr>
        <p:spPr>
          <a:xfrm>
            <a:off x="1371600" y="46609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Sofía Ramírez · contexto académico</a:t>
            </a:r>
            <a:endParaRPr lang="en-US" sz="1400" dirty="0"/>
          </a:p>
        </p:txBody>
      </p:sp>
      <p:sp>
        <p:nvSpPr>
          <p:cNvPr id="12" name="role-body-student"/>
          <p:cNvSpPr/>
          <p:nvPr/>
        </p:nvSpPr>
        <p:spPr>
          <a:xfrm>
            <a:off x="1371600" y="5207000"/>
            <a:ext cx="3403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 clases, agenda, notas e historial.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presencia mediante QR.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Envía entregas y justifica ausencias.</a:t>
            </a:r>
            <a:endParaRPr lang="en-US" sz="1600" dirty="0"/>
          </a:p>
        </p:txBody>
      </p:sp>
      <p:sp>
        <p:nvSpPr>
          <p:cNvPr id="13" name="role-card-teacher"/>
          <p:cNvSpPr/>
          <p:nvPr/>
        </p:nvSpPr>
        <p:spPr>
          <a:xfrm>
            <a:off x="5943600" y="2984500"/>
            <a:ext cx="4368800" cy="4648200"/>
          </a:xfrm>
          <a:prstGeom prst="roundRect">
            <a:avLst>
              <a:gd name="adj" fmla="val 5814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role-accent-teacher"/>
          <p:cNvSpPr/>
          <p:nvPr/>
        </p:nvSpPr>
        <p:spPr>
          <a:xfrm>
            <a:off x="5943600" y="2984500"/>
            <a:ext cx="4368800" cy="1524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pic>
        <p:nvPicPr>
          <p:cNvPr id="15" name="role-icon-teach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3467100"/>
            <a:ext cx="533400" cy="533400"/>
          </a:xfrm>
          <a:prstGeom prst="rect">
            <a:avLst/>
          </a:prstGeom>
        </p:spPr>
      </p:pic>
      <p:sp>
        <p:nvSpPr>
          <p:cNvPr id="16" name="role-title-teacher"/>
          <p:cNvSpPr/>
          <p:nvPr/>
        </p:nvSpPr>
        <p:spPr>
          <a:xfrm>
            <a:off x="6299200" y="42418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</a:t>
            </a:r>
            <a:endParaRPr lang="en-US" sz="2200" dirty="0"/>
          </a:p>
        </p:txBody>
      </p:sp>
      <p:sp>
        <p:nvSpPr>
          <p:cNvPr id="17" name="role-name-teacher"/>
          <p:cNvSpPr/>
          <p:nvPr/>
        </p:nvSpPr>
        <p:spPr>
          <a:xfrm>
            <a:off x="6299200" y="46609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Laura Méndez · gestión de comisión</a:t>
            </a:r>
            <a:endParaRPr lang="en-US" sz="1400" dirty="0"/>
          </a:p>
        </p:txBody>
      </p:sp>
      <p:sp>
        <p:nvSpPr>
          <p:cNvPr id="18" name="role-body-teacher"/>
          <p:cNvSpPr/>
          <p:nvPr/>
        </p:nvSpPr>
        <p:spPr>
          <a:xfrm>
            <a:off x="6299200" y="5207000"/>
            <a:ext cx="3403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Abre sesiones QR por comisión.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 y corrige actividades.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justificaciones de su grupo.</a:t>
            </a:r>
            <a:endParaRPr lang="en-US" sz="1600" dirty="0"/>
          </a:p>
        </p:txBody>
      </p:sp>
      <p:sp>
        <p:nvSpPr>
          <p:cNvPr id="19" name="role-card-admin"/>
          <p:cNvSpPr/>
          <p:nvPr/>
        </p:nvSpPr>
        <p:spPr>
          <a:xfrm>
            <a:off x="10871200" y="2984500"/>
            <a:ext cx="4368800" cy="4648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role-accent-admin"/>
          <p:cNvSpPr/>
          <p:nvPr/>
        </p:nvSpPr>
        <p:spPr>
          <a:xfrm>
            <a:off x="10871200" y="2984500"/>
            <a:ext cx="4368800" cy="1524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pic>
        <p:nvPicPr>
          <p:cNvPr id="21" name="role-icon-adm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3467100"/>
            <a:ext cx="533400" cy="533400"/>
          </a:xfrm>
          <a:prstGeom prst="rect">
            <a:avLst/>
          </a:prstGeom>
        </p:spPr>
      </p:pic>
      <p:sp>
        <p:nvSpPr>
          <p:cNvPr id="22" name="role-title-admin"/>
          <p:cNvSpPr/>
          <p:nvPr/>
        </p:nvSpPr>
        <p:spPr>
          <a:xfrm>
            <a:off x="11226800" y="42418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Administrativo</a:t>
            </a:r>
            <a:endParaRPr lang="en-US" sz="2200" dirty="0"/>
          </a:p>
        </p:txBody>
      </p:sp>
      <p:sp>
        <p:nvSpPr>
          <p:cNvPr id="23" name="role-name-admin"/>
          <p:cNvSpPr/>
          <p:nvPr/>
        </p:nvSpPr>
        <p:spPr>
          <a:xfrm>
            <a:off x="11226800" y="46609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Martina Costa · operación institucional</a:t>
            </a:r>
            <a:endParaRPr lang="en-US" sz="1400" dirty="0"/>
          </a:p>
        </p:txBody>
      </p:sp>
      <p:sp>
        <p:nvSpPr>
          <p:cNvPr id="24" name="role-body-admin"/>
          <p:cNvSpPr/>
          <p:nvPr/>
        </p:nvSpPr>
        <p:spPr>
          <a:xfrm>
            <a:off x="11226800" y="5207000"/>
            <a:ext cx="3403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y activa comisiones.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inscripciones y sesiones.</a:t>
            </a:r>
            <a:endParaRPr lang="en-US" sz="1600" dirty="0"/>
          </a:p>
          <a:p>
            <a:pPr algn="l" marL="254000" indent="-254000">
              <a:lnSpc>
                <a:spcPts val="227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justificaciones institucionales.</a:t>
            </a:r>
            <a:endParaRPr lang="en-US" sz="1600" dirty="0"/>
          </a:p>
        </p:txBody>
      </p:sp>
      <p:sp>
        <p:nvSpPr>
          <p:cNvPr id="25" name="rule-card"/>
          <p:cNvSpPr/>
          <p:nvPr/>
        </p:nvSpPr>
        <p:spPr>
          <a:xfrm>
            <a:off x="1016000" y="7937500"/>
            <a:ext cx="14224000" cy="533400"/>
          </a:xfrm>
          <a:prstGeom prst="roundRect">
            <a:avLst>
              <a:gd name="adj" fmla="val 33333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6" name="rul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" y="8051800"/>
            <a:ext cx="279400" cy="279400"/>
          </a:xfrm>
          <a:prstGeom prst="rect">
            <a:avLst/>
          </a:prstGeom>
        </p:spPr>
      </p:pic>
      <p:sp>
        <p:nvSpPr>
          <p:cNvPr id="27" name="rule-text"/>
          <p:cNvSpPr/>
          <p:nvPr/>
        </p:nvSpPr>
        <p:spPr>
          <a:xfrm>
            <a:off x="1778000" y="8064500"/>
            <a:ext cx="127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navegación: una identidad activa por vez; el cambio de perfil se realiza desde Perfil.</a:t>
            </a:r>
            <a:endParaRPr lang="en-US" sz="1600" dirty="0"/>
          </a:p>
        </p:txBody>
      </p:sp>
      <p:sp>
        <p:nvSpPr>
          <p:cNvPr id="28" name="slide-number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393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EXPERIENCIA ALUMNO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 centrado en las clases</a:t>
            </a:r>
            <a:endParaRPr lang="en-US" sz="4200" dirty="0"/>
          </a:p>
        </p:txBody>
      </p:sp>
      <p:sp>
        <p:nvSpPr>
          <p:cNvPr id="6" name="flow-label"/>
          <p:cNvSpPr/>
          <p:nvPr/>
        </p:nvSpPr>
        <p:spPr>
          <a:xfrm>
            <a:off x="1016000" y="2260600"/>
            <a:ext cx="692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 </a:t>
            </a:r>
            <a:r>
              <a:rPr lang="en-US" altLang="en-US" sz="1900" b="1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altLang="en-US" sz="19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Clase </a:t>
            </a:r>
            <a:r>
              <a:rPr lang="en-US" altLang="en-US" sz="1900" b="1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altLang="en-US" sz="19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Actividades / Asistencia / Nota</a:t>
            </a:r>
            <a:endParaRPr lang="en-US" sz="1900" dirty="0"/>
          </a:p>
        </p:txBody>
      </p:sp>
      <p:sp>
        <p:nvSpPr>
          <p:cNvPr id="7" name="student-principle-1"/>
          <p:cNvSpPr/>
          <p:nvPr/>
        </p:nvSpPr>
        <p:spPr>
          <a:xfrm>
            <a:off x="1016000" y="3073400"/>
            <a:ext cx="7175500" cy="939800"/>
          </a:xfrm>
          <a:prstGeom prst="roundRect">
            <a:avLst>
              <a:gd name="adj" fmla="val 2162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8" name="student-principle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327400"/>
            <a:ext cx="355600" cy="355600"/>
          </a:xfrm>
          <a:prstGeom prst="rect">
            <a:avLst/>
          </a:prstGeom>
        </p:spPr>
      </p:pic>
      <p:sp>
        <p:nvSpPr>
          <p:cNvPr id="9" name="student-principle-title-1"/>
          <p:cNvSpPr/>
          <p:nvPr/>
        </p:nvSpPr>
        <p:spPr>
          <a:xfrm>
            <a:off x="1905000" y="3213100"/>
            <a:ext cx="558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materia, una puerta de entrada</a:t>
            </a:r>
            <a:endParaRPr lang="en-US" sz="1700" dirty="0"/>
          </a:p>
        </p:txBody>
      </p:sp>
      <p:sp>
        <p:nvSpPr>
          <p:cNvPr id="10" name="student-principle-body-1"/>
          <p:cNvSpPr/>
          <p:nvPr/>
        </p:nvSpPr>
        <p:spPr>
          <a:xfrm>
            <a:off x="1905000" y="3556000"/>
            <a:ext cx="558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Tarjetas únicas; sin resúmenes duplicados ni pantallas irrelevantes.</a:t>
            </a:r>
            <a:endParaRPr lang="en-US" sz="1300" dirty="0"/>
          </a:p>
        </p:txBody>
      </p:sp>
      <p:sp>
        <p:nvSpPr>
          <p:cNvPr id="11" name="student-principle-2"/>
          <p:cNvSpPr/>
          <p:nvPr/>
        </p:nvSpPr>
        <p:spPr>
          <a:xfrm>
            <a:off x="1016000" y="4241800"/>
            <a:ext cx="7175500" cy="939800"/>
          </a:xfrm>
          <a:prstGeom prst="roundRect">
            <a:avLst>
              <a:gd name="adj" fmla="val 2162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12" name="student-principle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495800"/>
            <a:ext cx="355600" cy="355600"/>
          </a:xfrm>
          <a:prstGeom prst="rect">
            <a:avLst/>
          </a:prstGeom>
        </p:spPr>
      </p:pic>
      <p:sp>
        <p:nvSpPr>
          <p:cNvPr id="13" name="student-principle-title-2"/>
          <p:cNvSpPr/>
          <p:nvPr/>
        </p:nvSpPr>
        <p:spPr>
          <a:xfrm>
            <a:off x="1905000" y="4381500"/>
            <a:ext cx="558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 dentro del contexto</a:t>
            </a:r>
            <a:endParaRPr lang="en-US" sz="1700" dirty="0"/>
          </a:p>
        </p:txBody>
      </p:sp>
      <p:sp>
        <p:nvSpPr>
          <p:cNvPr id="14" name="student-principle-body-2"/>
          <p:cNvSpPr/>
          <p:nvPr/>
        </p:nvSpPr>
        <p:spPr>
          <a:xfrm>
            <a:off x="1905000" y="4724400"/>
            <a:ext cx="558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Asistencia, nota actual y entregas se leen desde la clase elegida.</a:t>
            </a:r>
            <a:endParaRPr lang="en-US" sz="1300" dirty="0"/>
          </a:p>
        </p:txBody>
      </p:sp>
      <p:sp>
        <p:nvSpPr>
          <p:cNvPr id="15" name="student-principle-3"/>
          <p:cNvSpPr/>
          <p:nvPr/>
        </p:nvSpPr>
        <p:spPr>
          <a:xfrm>
            <a:off x="1016000" y="5410200"/>
            <a:ext cx="7175500" cy="939800"/>
          </a:xfrm>
          <a:prstGeom prst="roundRect">
            <a:avLst>
              <a:gd name="adj" fmla="val 2162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16" name="student-principle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664200"/>
            <a:ext cx="355600" cy="355600"/>
          </a:xfrm>
          <a:prstGeom prst="rect">
            <a:avLst/>
          </a:prstGeom>
        </p:spPr>
      </p:pic>
      <p:sp>
        <p:nvSpPr>
          <p:cNvPr id="17" name="student-principle-title-3"/>
          <p:cNvSpPr/>
          <p:nvPr/>
        </p:nvSpPr>
        <p:spPr>
          <a:xfrm>
            <a:off x="1905000" y="5549900"/>
            <a:ext cx="558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Estados académicos explícitos</a:t>
            </a:r>
            <a:endParaRPr lang="en-US" sz="1700" dirty="0"/>
          </a:p>
        </p:txBody>
      </p:sp>
      <p:sp>
        <p:nvSpPr>
          <p:cNvPr id="18" name="student-principle-body-3"/>
          <p:cNvSpPr/>
          <p:nvPr/>
        </p:nvSpPr>
        <p:spPr>
          <a:xfrm>
            <a:off x="1905000" y="5892800"/>
            <a:ext cx="558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Pendiente, en revisión y cerrada con texto, icono y color.</a:t>
            </a:r>
            <a:endParaRPr lang="en-US" sz="1300" dirty="0"/>
          </a:p>
        </p:txBody>
      </p:sp>
      <p:sp>
        <p:nvSpPr>
          <p:cNvPr id="19" name="status-chip-1"/>
          <p:cNvSpPr/>
          <p:nvPr/>
        </p:nvSpPr>
        <p:spPr>
          <a:xfrm>
            <a:off x="1016000" y="6794500"/>
            <a:ext cx="2095500" cy="457200"/>
          </a:xfrm>
          <a:prstGeom prst="roundRect">
            <a:avLst>
              <a:gd name="adj" fmla="val 50000"/>
            </a:avLst>
          </a:prstGeom>
          <a:solidFill>
            <a:srgbClr val="FFF6D7"/>
          </a:solidFill>
          <a:ln/>
        </p:spPr>
      </p:sp>
      <p:sp>
        <p:nvSpPr>
          <p:cNvPr id="20" name="status-chip-text-1"/>
          <p:cNvSpPr/>
          <p:nvPr/>
        </p:nvSpPr>
        <p:spPr>
          <a:xfrm>
            <a:off x="1016000" y="69088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21" name="status-chip-2"/>
          <p:cNvSpPr/>
          <p:nvPr/>
        </p:nvSpPr>
        <p:spPr>
          <a:xfrm>
            <a:off x="3314700" y="6794500"/>
            <a:ext cx="2095500" cy="457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/>
        </p:spPr>
      </p:sp>
      <p:sp>
        <p:nvSpPr>
          <p:cNvPr id="22" name="status-chip-text-2"/>
          <p:cNvSpPr/>
          <p:nvPr/>
        </p:nvSpPr>
        <p:spPr>
          <a:xfrm>
            <a:off x="3314700" y="69088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REVISIÓN</a:t>
            </a:r>
            <a:endParaRPr lang="en-US" sz="1200" dirty="0"/>
          </a:p>
        </p:txBody>
      </p:sp>
      <p:sp>
        <p:nvSpPr>
          <p:cNvPr id="23" name="status-chip-3"/>
          <p:cNvSpPr/>
          <p:nvPr/>
        </p:nvSpPr>
        <p:spPr>
          <a:xfrm>
            <a:off x="5613400" y="6794500"/>
            <a:ext cx="2095500" cy="457200"/>
          </a:xfrm>
          <a:prstGeom prst="roundRect">
            <a:avLst>
              <a:gd name="adj" fmla="val 50000"/>
            </a:avLst>
          </a:prstGeom>
          <a:solidFill>
            <a:srgbClr val="EAF6F1"/>
          </a:solidFill>
          <a:ln/>
        </p:spPr>
      </p:sp>
      <p:sp>
        <p:nvSpPr>
          <p:cNvPr id="24" name="status-chip-text-3"/>
          <p:cNvSpPr/>
          <p:nvPr/>
        </p:nvSpPr>
        <p:spPr>
          <a:xfrm>
            <a:off x="5613400" y="69088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CERRADA</a:t>
            </a:r>
            <a:endParaRPr lang="en-US" sz="1200" dirty="0"/>
          </a:p>
        </p:txBody>
      </p:sp>
      <p:sp>
        <p:nvSpPr>
          <p:cNvPr id="25" name="student-ui-shadow"/>
          <p:cNvSpPr/>
          <p:nvPr/>
        </p:nvSpPr>
        <p:spPr>
          <a:xfrm>
            <a:off x="9842500" y="2209800"/>
            <a:ext cx="4953000" cy="5397500"/>
          </a:xfrm>
          <a:prstGeom prst="roundRect">
            <a:avLst>
              <a:gd name="adj" fmla="val 6154"/>
            </a:avLst>
          </a:prstGeom>
          <a:solidFill>
            <a:srgbClr val="000000">
              <a:alpha val="33000"/>
            </a:srgbClr>
          </a:solidFill>
          <a:ln/>
        </p:spPr>
      </p:sp>
      <p:sp>
        <p:nvSpPr>
          <p:cNvPr id="26" name="student-ui-frame"/>
          <p:cNvSpPr/>
          <p:nvPr/>
        </p:nvSpPr>
        <p:spPr>
          <a:xfrm>
            <a:off x="9715500" y="2082800"/>
            <a:ext cx="4953000" cy="5397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7" name="student-ui-header"/>
          <p:cNvSpPr/>
          <p:nvPr/>
        </p:nvSpPr>
        <p:spPr>
          <a:xfrm>
            <a:off x="9969500" y="2336800"/>
            <a:ext cx="4445000" cy="914400"/>
          </a:xfrm>
          <a:prstGeom prst="roundRect">
            <a:avLst>
              <a:gd name="adj" fmla="val 23611"/>
            </a:avLst>
          </a:prstGeom>
          <a:solidFill>
            <a:srgbClr val="0B1F3A"/>
          </a:solidFill>
          <a:ln/>
        </p:spPr>
      </p:sp>
      <p:sp>
        <p:nvSpPr>
          <p:cNvPr id="28" name="student-ui-kicker"/>
          <p:cNvSpPr/>
          <p:nvPr/>
        </p:nvSpPr>
        <p:spPr>
          <a:xfrm>
            <a:off x="10223500" y="2552700"/>
            <a:ext cx="279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CLASE</a:t>
            </a:r>
            <a:endParaRPr lang="en-US" sz="1200" dirty="0"/>
          </a:p>
        </p:txBody>
      </p:sp>
      <p:sp>
        <p:nvSpPr>
          <p:cNvPr id="29" name="student-ui-title"/>
          <p:cNvSpPr/>
          <p:nvPr/>
        </p:nvSpPr>
        <p:spPr>
          <a:xfrm>
            <a:off x="10223500" y="28194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Datos</a:t>
            </a:r>
            <a:endParaRPr lang="en-US" sz="1800" dirty="0"/>
          </a:p>
        </p:txBody>
      </p:sp>
      <p:sp>
        <p:nvSpPr>
          <p:cNvPr id="30" name="student-ui-attendance"/>
          <p:cNvSpPr/>
          <p:nvPr/>
        </p:nvSpPr>
        <p:spPr>
          <a:xfrm>
            <a:off x="9969500" y="3479800"/>
            <a:ext cx="1346200" cy="990600"/>
          </a:xfrm>
          <a:prstGeom prst="roundRect">
            <a:avLst>
              <a:gd name="adj" fmla="val 17949"/>
            </a:avLst>
          </a:prstGeom>
          <a:solidFill>
            <a:srgbClr val="D7DEE8"/>
          </a:solidFill>
          <a:ln/>
        </p:spPr>
      </p:sp>
      <p:sp>
        <p:nvSpPr>
          <p:cNvPr id="31" name="student-ui-attendance-label"/>
          <p:cNvSpPr/>
          <p:nvPr/>
        </p:nvSpPr>
        <p:spPr>
          <a:xfrm>
            <a:off x="10096500" y="3644900"/>
            <a:ext cx="109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</a:t>
            </a:r>
            <a:endParaRPr lang="en-US" sz="1100" dirty="0"/>
          </a:p>
        </p:txBody>
      </p:sp>
      <p:sp>
        <p:nvSpPr>
          <p:cNvPr id="32" name="student-ui-attendance-value"/>
          <p:cNvSpPr/>
          <p:nvPr/>
        </p:nvSpPr>
        <p:spPr>
          <a:xfrm>
            <a:off x="10096500" y="3949700"/>
            <a:ext cx="1092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2100" dirty="0"/>
          </a:p>
        </p:txBody>
      </p:sp>
      <p:sp>
        <p:nvSpPr>
          <p:cNvPr id="33" name="student-ui-grade"/>
          <p:cNvSpPr/>
          <p:nvPr/>
        </p:nvSpPr>
        <p:spPr>
          <a:xfrm>
            <a:off x="11455400" y="3479800"/>
            <a:ext cx="1346200" cy="990600"/>
          </a:xfrm>
          <a:prstGeom prst="roundRect">
            <a:avLst>
              <a:gd name="adj" fmla="val 17949"/>
            </a:avLst>
          </a:prstGeom>
          <a:solidFill>
            <a:srgbClr val="FFF6D7"/>
          </a:solidFill>
          <a:ln/>
        </p:spPr>
      </p:sp>
      <p:sp>
        <p:nvSpPr>
          <p:cNvPr id="34" name="student-ui-grade-label"/>
          <p:cNvSpPr/>
          <p:nvPr/>
        </p:nvSpPr>
        <p:spPr>
          <a:xfrm>
            <a:off x="11582400" y="3644900"/>
            <a:ext cx="109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</a:t>
            </a:r>
            <a:endParaRPr lang="en-US" sz="1100" dirty="0"/>
          </a:p>
        </p:txBody>
      </p:sp>
      <p:sp>
        <p:nvSpPr>
          <p:cNvPr id="35" name="student-ui-grade-value"/>
          <p:cNvSpPr/>
          <p:nvPr/>
        </p:nvSpPr>
        <p:spPr>
          <a:xfrm>
            <a:off x="11582400" y="3949700"/>
            <a:ext cx="1092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</a:t>
            </a:r>
            <a:endParaRPr lang="en-US" sz="2100" dirty="0"/>
          </a:p>
        </p:txBody>
      </p:sp>
      <p:sp>
        <p:nvSpPr>
          <p:cNvPr id="36" name="student-ui-pending"/>
          <p:cNvSpPr/>
          <p:nvPr/>
        </p:nvSpPr>
        <p:spPr>
          <a:xfrm>
            <a:off x="12941300" y="3479800"/>
            <a:ext cx="1473200" cy="990600"/>
          </a:xfrm>
          <a:prstGeom prst="roundRect">
            <a:avLst>
              <a:gd name="adj" fmla="val 17949"/>
            </a:avLst>
          </a:prstGeom>
          <a:solidFill>
            <a:srgbClr val="EAF6F1"/>
          </a:solidFill>
          <a:ln/>
        </p:spPr>
      </p:sp>
      <p:sp>
        <p:nvSpPr>
          <p:cNvPr id="37" name="student-ui-pending-label"/>
          <p:cNvSpPr/>
          <p:nvPr/>
        </p:nvSpPr>
        <p:spPr>
          <a:xfrm>
            <a:off x="13068300" y="36449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ACTIVIDADES</a:t>
            </a:r>
            <a:endParaRPr lang="en-US" sz="1100" dirty="0"/>
          </a:p>
        </p:txBody>
      </p:sp>
      <p:sp>
        <p:nvSpPr>
          <p:cNvPr id="38" name="student-ui-pending-value"/>
          <p:cNvSpPr/>
          <p:nvPr/>
        </p:nvSpPr>
        <p:spPr>
          <a:xfrm>
            <a:off x="13068300" y="3949700"/>
            <a:ext cx="1219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00" dirty="0"/>
          </a:p>
        </p:txBody>
      </p:sp>
      <p:sp>
        <p:nvSpPr>
          <p:cNvPr id="39" name="student-ui-task"/>
          <p:cNvSpPr/>
          <p:nvPr/>
        </p:nvSpPr>
        <p:spPr>
          <a:xfrm>
            <a:off x="9969500" y="4699000"/>
            <a:ext cx="4445000" cy="1193800"/>
          </a:xfrm>
          <a:prstGeom prst="roundRect">
            <a:avLst>
              <a:gd name="adj" fmla="val 14894"/>
            </a:avLst>
          </a:prstGeom>
          <a:solidFill>
            <a:srgbClr val="D7DEE8"/>
          </a:solidFill>
          <a:ln/>
        </p:spPr>
      </p:sp>
      <p:sp>
        <p:nvSpPr>
          <p:cNvPr id="40" name="student-ui-task-title"/>
          <p:cNvSpPr/>
          <p:nvPr/>
        </p:nvSpPr>
        <p:spPr>
          <a:xfrm>
            <a:off x="10223500" y="4927600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· Modelo relacional</a:t>
            </a:r>
            <a:endParaRPr lang="en-US" sz="1500" dirty="0"/>
          </a:p>
        </p:txBody>
      </p:sp>
      <p:sp>
        <p:nvSpPr>
          <p:cNvPr id="41" name="student-ui-task-detail"/>
          <p:cNvSpPr/>
          <p:nvPr/>
        </p:nvSpPr>
        <p:spPr>
          <a:xfrm>
            <a:off x="10223500" y="5283200"/>
            <a:ext cx="279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Vence el viernes · Adjuntar archivo</a:t>
            </a:r>
            <a:endParaRPr lang="en-US" sz="1200" dirty="0"/>
          </a:p>
        </p:txBody>
      </p:sp>
      <p:sp>
        <p:nvSpPr>
          <p:cNvPr id="42" name="student-ui-task-chip"/>
          <p:cNvSpPr/>
          <p:nvPr/>
        </p:nvSpPr>
        <p:spPr>
          <a:xfrm>
            <a:off x="13068300" y="50165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43" name="student-ui-task-chip-text"/>
          <p:cNvSpPr/>
          <p:nvPr/>
        </p:nvSpPr>
        <p:spPr>
          <a:xfrm>
            <a:off x="13068300" y="51054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44" name="student-ui-history"/>
          <p:cNvSpPr/>
          <p:nvPr/>
        </p:nvSpPr>
        <p:spPr>
          <a:xfrm>
            <a:off x="9969500" y="6146800"/>
            <a:ext cx="4445000" cy="914400"/>
          </a:xfrm>
          <a:prstGeom prst="roundRect">
            <a:avLst>
              <a:gd name="adj" fmla="val 19444"/>
            </a:avLst>
          </a:prstGeom>
          <a:solidFill>
            <a:srgbClr val="0B1F3A"/>
          </a:solidFill>
          <a:ln/>
        </p:spPr>
      </p:sp>
      <p:pic>
        <p:nvPicPr>
          <p:cNvPr id="45" name="student-ui-history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6413500"/>
            <a:ext cx="330200" cy="330200"/>
          </a:xfrm>
          <a:prstGeom prst="rect">
            <a:avLst/>
          </a:prstGeom>
        </p:spPr>
      </p:pic>
      <p:sp>
        <p:nvSpPr>
          <p:cNvPr id="46" name="student-ui-history-title"/>
          <p:cNvSpPr/>
          <p:nvPr/>
        </p:nvSpPr>
        <p:spPr>
          <a:xfrm>
            <a:off x="10693400" y="63500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asistencia</a:t>
            </a:r>
            <a:endParaRPr lang="en-US" sz="1500" dirty="0"/>
          </a:p>
        </p:txBody>
      </p:sp>
      <p:sp>
        <p:nvSpPr>
          <p:cNvPr id="47" name="student-ui-history-detail"/>
          <p:cNvSpPr/>
          <p:nvPr/>
        </p:nvSpPr>
        <p:spPr>
          <a:xfrm>
            <a:off x="10693400" y="6667500"/>
            <a:ext cx="317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Ausencias y justificaciones</a:t>
            </a:r>
            <a:endParaRPr lang="en-US" sz="1100" dirty="0"/>
          </a:p>
        </p:txBody>
      </p:sp>
      <p:sp>
        <p:nvSpPr>
          <p:cNvPr id="48" name="slide-number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31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ASISTENCIA Y TRAZABILIDAD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QR a una justificación trazable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133600"/>
            <a:ext cx="1155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ausencia no termina en un registro: inicia un circuito claro de evidencia, revisión y respuesta.</a:t>
            </a:r>
            <a:endParaRPr lang="en-US" sz="2000" dirty="0"/>
          </a:p>
        </p:txBody>
      </p:sp>
      <p:sp>
        <p:nvSpPr>
          <p:cNvPr id="7" name="flow-line"/>
          <p:cNvSpPr/>
          <p:nvPr/>
        </p:nvSpPr>
        <p:spPr>
          <a:xfrm>
            <a:off x="1651000" y="4546600"/>
            <a:ext cx="12954000" cy="9144"/>
          </a:xfrm>
          <a:prstGeom prst="line">
            <a:avLst/>
          </a:prstGeom>
          <a:ln w="38100">
            <a:solidFill>
              <a:srgbClr val="D7DEE8"/>
            </a:solidFill>
            <a:prstDash val="solid"/>
          </a:ln>
        </p:spPr>
      </p:sp>
      <p:sp>
        <p:nvSpPr>
          <p:cNvPr id="8" name="node-1"/>
          <p:cNvSpPr/>
          <p:nvPr/>
        </p:nvSpPr>
        <p:spPr>
          <a:xfrm>
            <a:off x="1549400" y="4064000"/>
            <a:ext cx="965200" cy="965200"/>
          </a:xfrm>
          <a:prstGeom prst="ellipse">
            <a:avLst/>
          </a:prstGeom>
          <a:solidFill>
            <a:srgbClr val="F4C542"/>
          </a:solidFill>
          <a:ln/>
        </p:spPr>
      </p:sp>
      <p:pic>
        <p:nvPicPr>
          <p:cNvPr id="9" name="node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0" y="4330700"/>
            <a:ext cx="431800" cy="431800"/>
          </a:xfrm>
          <a:prstGeom prst="rect">
            <a:avLst/>
          </a:prstGeom>
        </p:spPr>
      </p:pic>
      <p:sp>
        <p:nvSpPr>
          <p:cNvPr id="10" name="node-2"/>
          <p:cNvSpPr/>
          <p:nvPr/>
        </p:nvSpPr>
        <p:spPr>
          <a:xfrm>
            <a:off x="4597400" y="4064000"/>
            <a:ext cx="965200" cy="965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node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0" y="4330700"/>
            <a:ext cx="431800" cy="431800"/>
          </a:xfrm>
          <a:prstGeom prst="rect">
            <a:avLst/>
          </a:prstGeom>
        </p:spPr>
      </p:pic>
      <p:sp>
        <p:nvSpPr>
          <p:cNvPr id="12" name="node-3"/>
          <p:cNvSpPr/>
          <p:nvPr/>
        </p:nvSpPr>
        <p:spPr>
          <a:xfrm>
            <a:off x="7645400" y="4064000"/>
            <a:ext cx="965200" cy="965200"/>
          </a:xfrm>
          <a:prstGeom prst="ellipse">
            <a:avLst/>
          </a:prstGeom>
          <a:solidFill>
            <a:srgbClr val="FFF6D7"/>
          </a:solidFill>
          <a:ln/>
        </p:spPr>
      </p:sp>
      <p:pic>
        <p:nvPicPr>
          <p:cNvPr id="13" name="node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4330700"/>
            <a:ext cx="431800" cy="431800"/>
          </a:xfrm>
          <a:prstGeom prst="rect">
            <a:avLst/>
          </a:prstGeom>
        </p:spPr>
      </p:pic>
      <p:sp>
        <p:nvSpPr>
          <p:cNvPr id="14" name="node-4"/>
          <p:cNvSpPr/>
          <p:nvPr/>
        </p:nvSpPr>
        <p:spPr>
          <a:xfrm>
            <a:off x="10693400" y="4064000"/>
            <a:ext cx="965200" cy="965200"/>
          </a:xfrm>
          <a:prstGeom prst="ellipse">
            <a:avLst/>
          </a:prstGeom>
          <a:solidFill>
            <a:srgbClr val="D7DEE8"/>
          </a:solidFill>
          <a:ln/>
        </p:spPr>
      </p:sp>
      <p:pic>
        <p:nvPicPr>
          <p:cNvPr id="15" name="node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100" y="4330700"/>
            <a:ext cx="431800" cy="431800"/>
          </a:xfrm>
          <a:prstGeom prst="rect">
            <a:avLst/>
          </a:prstGeom>
        </p:spPr>
      </p:pic>
      <p:sp>
        <p:nvSpPr>
          <p:cNvPr id="16" name="node-5"/>
          <p:cNvSpPr/>
          <p:nvPr/>
        </p:nvSpPr>
        <p:spPr>
          <a:xfrm>
            <a:off x="13741400" y="4064000"/>
            <a:ext cx="965200" cy="965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7" name="node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8100" y="4330700"/>
            <a:ext cx="431800" cy="431800"/>
          </a:xfrm>
          <a:prstGeom prst="rect">
            <a:avLst/>
          </a:prstGeom>
        </p:spPr>
      </p:pic>
      <p:sp>
        <p:nvSpPr>
          <p:cNvPr id="18" name="node-label-1"/>
          <p:cNvSpPr/>
          <p:nvPr/>
        </p:nvSpPr>
        <p:spPr>
          <a:xfrm>
            <a:off x="1079500" y="3022600"/>
            <a:ext cx="190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Sesión QR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 abre la comisión</a:t>
            </a:r>
            <a:endParaRPr lang="en-US" sz="1700" dirty="0"/>
          </a:p>
        </p:txBody>
      </p:sp>
      <p:sp>
        <p:nvSpPr>
          <p:cNvPr id="19" name="node-label-2"/>
          <p:cNvSpPr/>
          <p:nvPr/>
        </p:nvSpPr>
        <p:spPr>
          <a:xfrm>
            <a:off x="4127500" y="5461000"/>
            <a:ext cx="190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Registro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Alumno marca presencia</a:t>
            </a:r>
            <a:endParaRPr lang="en-US" sz="1700" dirty="0"/>
          </a:p>
        </p:txBody>
      </p:sp>
      <p:sp>
        <p:nvSpPr>
          <p:cNvPr id="20" name="node-label-3"/>
          <p:cNvSpPr/>
          <p:nvPr/>
        </p:nvSpPr>
        <p:spPr>
          <a:xfrm>
            <a:off x="7175500" y="3022600"/>
            <a:ext cx="190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Justificación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Comentario y/o archivo</a:t>
            </a:r>
            <a:endParaRPr lang="en-US" sz="1700" dirty="0"/>
          </a:p>
        </p:txBody>
      </p:sp>
      <p:sp>
        <p:nvSpPr>
          <p:cNvPr id="21" name="node-label-4"/>
          <p:cNvSpPr/>
          <p:nvPr/>
        </p:nvSpPr>
        <p:spPr>
          <a:xfrm>
            <a:off x="10223500" y="5461000"/>
            <a:ext cx="190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Revisión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 o Administrativo</a:t>
            </a:r>
            <a:endParaRPr lang="en-US" sz="1700" dirty="0"/>
          </a:p>
        </p:txBody>
      </p:sp>
      <p:sp>
        <p:nvSpPr>
          <p:cNvPr id="22" name="node-label-5"/>
          <p:cNvSpPr/>
          <p:nvPr/>
        </p:nvSpPr>
        <p:spPr>
          <a:xfrm>
            <a:off x="13271500" y="3022600"/>
            <a:ext cx="190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Estado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Historial actualizado</a:t>
            </a:r>
            <a:endParaRPr lang="en-US" sz="1700" dirty="0"/>
          </a:p>
        </p:txBody>
      </p:sp>
      <p:sp>
        <p:nvSpPr>
          <p:cNvPr id="23" name="bottom-callout"/>
          <p:cNvSpPr/>
          <p:nvPr/>
        </p:nvSpPr>
        <p:spPr>
          <a:xfrm>
            <a:off x="2032000" y="7048500"/>
            <a:ext cx="12192000" cy="863600"/>
          </a:xfrm>
          <a:prstGeom prst="roundRect">
            <a:avLst>
              <a:gd name="adj" fmla="val 264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24" name="bottom-callout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7302500"/>
            <a:ext cx="342900" cy="342900"/>
          </a:xfrm>
          <a:prstGeom prst="rect">
            <a:avLst/>
          </a:prstGeom>
        </p:spPr>
      </p:pic>
      <p:sp>
        <p:nvSpPr>
          <p:cNvPr id="25" name="bottom-callout-text"/>
          <p:cNvSpPr/>
          <p:nvPr/>
        </p:nvSpPr>
        <p:spPr>
          <a:xfrm>
            <a:off x="3048000" y="7264400"/>
            <a:ext cx="10414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justificación admite comentario, constancia de hasta 5 MB o ambos.</a:t>
            </a:r>
            <a:endParaRPr lang="en-US" sz="1800" dirty="0"/>
          </a:p>
        </p:txBody>
      </p:sp>
      <p:sp>
        <p:nvSpPr>
          <p:cNvPr id="26" name="slide-number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PANEL DOCENTE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Actividades dentro de cada comisión</a:t>
            </a:r>
            <a:endParaRPr lang="en-US" sz="4200" dirty="0"/>
          </a:p>
        </p:txBody>
      </p:sp>
      <p:sp>
        <p:nvSpPr>
          <p:cNvPr id="6" name="teacher-note-left-1"/>
          <p:cNvSpPr/>
          <p:nvPr/>
        </p:nvSpPr>
        <p:spPr>
          <a:xfrm>
            <a:off x="1016000" y="2857500"/>
            <a:ext cx="3175000" cy="1333500"/>
          </a:xfrm>
          <a:prstGeom prst="roundRect">
            <a:avLst>
              <a:gd name="adj" fmla="val 15238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teacher-note-left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3162300"/>
            <a:ext cx="355600" cy="355600"/>
          </a:xfrm>
          <a:prstGeom prst="rect">
            <a:avLst/>
          </a:prstGeom>
        </p:spPr>
      </p:pic>
      <p:sp>
        <p:nvSpPr>
          <p:cNvPr id="8" name="teacher-note-left-title-1"/>
          <p:cNvSpPr/>
          <p:nvPr/>
        </p:nvSpPr>
        <p:spPr>
          <a:xfrm>
            <a:off x="1879600" y="3098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</a:t>
            </a:r>
            <a:endParaRPr lang="en-US" sz="1600" dirty="0"/>
          </a:p>
        </p:txBody>
      </p:sp>
      <p:sp>
        <p:nvSpPr>
          <p:cNvPr id="9" name="teacher-note-left-body-1"/>
          <p:cNvSpPr/>
          <p:nvPr/>
        </p:nvSpPr>
        <p:spPr>
          <a:xfrm>
            <a:off x="1308100" y="3568700"/>
            <a:ext cx="241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Nombre, consigna, adjunto y fecha límite.</a:t>
            </a:r>
            <a:endParaRPr lang="en-US" sz="1300" dirty="0"/>
          </a:p>
        </p:txBody>
      </p:sp>
      <p:sp>
        <p:nvSpPr>
          <p:cNvPr id="10" name="teacher-note-left-2"/>
          <p:cNvSpPr/>
          <p:nvPr/>
        </p:nvSpPr>
        <p:spPr>
          <a:xfrm>
            <a:off x="1016000" y="4762500"/>
            <a:ext cx="3175000" cy="133350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teacher-note-left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5067300"/>
            <a:ext cx="355600" cy="355600"/>
          </a:xfrm>
          <a:prstGeom prst="rect">
            <a:avLst/>
          </a:prstGeom>
        </p:spPr>
      </p:pic>
      <p:sp>
        <p:nvSpPr>
          <p:cNvPr id="12" name="teacher-note-left-title-2"/>
          <p:cNvSpPr/>
          <p:nvPr/>
        </p:nvSpPr>
        <p:spPr>
          <a:xfrm>
            <a:off x="1879600" y="5003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Contextualizar</a:t>
            </a:r>
            <a:endParaRPr lang="en-US" sz="1600" dirty="0"/>
          </a:p>
        </p:txBody>
      </p:sp>
      <p:sp>
        <p:nvSpPr>
          <p:cNvPr id="13" name="teacher-note-left-body-2"/>
          <p:cNvSpPr/>
          <p:nvPr/>
        </p:nvSpPr>
        <p:spPr>
          <a:xfrm>
            <a:off x="1308100" y="5473700"/>
            <a:ext cx="241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actividad nace dentro de la clase correcta.</a:t>
            </a:r>
            <a:endParaRPr lang="en-US" sz="1300" dirty="0"/>
          </a:p>
        </p:txBody>
      </p:sp>
      <p:sp>
        <p:nvSpPr>
          <p:cNvPr id="14" name="teacher-ui-shadow"/>
          <p:cNvSpPr/>
          <p:nvPr/>
        </p:nvSpPr>
        <p:spPr>
          <a:xfrm>
            <a:off x="5080000" y="2730500"/>
            <a:ext cx="6350000" cy="4445000"/>
          </a:xfrm>
          <a:prstGeom prst="roundRect">
            <a:avLst>
              <a:gd name="adj" fmla="val 6857"/>
            </a:avLst>
          </a:prstGeom>
          <a:solidFill>
            <a:srgbClr val="000000">
              <a:alpha val="33000"/>
            </a:srgbClr>
          </a:solidFill>
          <a:ln/>
        </p:spPr>
      </p:sp>
      <p:sp>
        <p:nvSpPr>
          <p:cNvPr id="15" name="teacher-ui-frame"/>
          <p:cNvSpPr/>
          <p:nvPr/>
        </p:nvSpPr>
        <p:spPr>
          <a:xfrm>
            <a:off x="4953000" y="2603500"/>
            <a:ext cx="6350000" cy="44450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6" name="teacher-ui-header"/>
          <p:cNvSpPr/>
          <p:nvPr/>
        </p:nvSpPr>
        <p:spPr>
          <a:xfrm>
            <a:off x="5232400" y="2870200"/>
            <a:ext cx="5791200" cy="939800"/>
          </a:xfrm>
          <a:prstGeom prst="roundRect">
            <a:avLst>
              <a:gd name="adj" fmla="val 21622"/>
            </a:avLst>
          </a:prstGeom>
          <a:solidFill>
            <a:srgbClr val="0B1F3A"/>
          </a:solidFill>
          <a:ln/>
        </p:spPr>
      </p:sp>
      <p:sp>
        <p:nvSpPr>
          <p:cNvPr id="17" name="teacher-ui-header-kicker"/>
          <p:cNvSpPr/>
          <p:nvPr/>
        </p:nvSpPr>
        <p:spPr>
          <a:xfrm>
            <a:off x="5511800" y="30734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PROGRAMACIÓN II · 2° B</a:t>
            </a:r>
            <a:endParaRPr lang="en-US" sz="1200" dirty="0"/>
          </a:p>
        </p:txBody>
      </p:sp>
      <p:sp>
        <p:nvSpPr>
          <p:cNvPr id="18" name="teacher-ui-header-title"/>
          <p:cNvSpPr/>
          <p:nvPr/>
        </p:nvSpPr>
        <p:spPr>
          <a:xfrm>
            <a:off x="5511800" y="33401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actividad</a:t>
            </a:r>
            <a:endParaRPr lang="en-US" sz="1800" dirty="0"/>
          </a:p>
        </p:txBody>
      </p:sp>
      <p:sp>
        <p:nvSpPr>
          <p:cNvPr id="19" name="teacher-ui-title-field"/>
          <p:cNvSpPr/>
          <p:nvPr/>
        </p:nvSpPr>
        <p:spPr>
          <a:xfrm>
            <a:off x="5232400" y="4064000"/>
            <a:ext cx="5791200" cy="635000"/>
          </a:xfrm>
          <a:prstGeom prst="roundRect">
            <a:avLst>
              <a:gd name="adj" fmla="val 24000"/>
            </a:avLst>
          </a:prstGeom>
          <a:solidFill>
            <a:srgbClr val="D7DEE8"/>
          </a:solidFill>
          <a:ln/>
        </p:spPr>
      </p:sp>
      <p:sp>
        <p:nvSpPr>
          <p:cNvPr id="20" name="teacher-ui-title-label"/>
          <p:cNvSpPr/>
          <p:nvPr/>
        </p:nvSpPr>
        <p:spPr>
          <a:xfrm>
            <a:off x="5461000" y="42164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DE LA ACTIVIDAD</a:t>
            </a:r>
            <a:endParaRPr lang="en-US" sz="1100" dirty="0"/>
          </a:p>
        </p:txBody>
      </p:sp>
      <p:sp>
        <p:nvSpPr>
          <p:cNvPr id="21" name="teacher-ui-title-value"/>
          <p:cNvSpPr/>
          <p:nvPr/>
        </p:nvSpPr>
        <p:spPr>
          <a:xfrm>
            <a:off x="5461000" y="4432300"/>
            <a:ext cx="368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· Modelo relacional</a:t>
            </a:r>
            <a:endParaRPr lang="en-US" sz="1400" dirty="0"/>
          </a:p>
        </p:txBody>
      </p:sp>
      <p:sp>
        <p:nvSpPr>
          <p:cNvPr id="22" name="teacher-ui-desc-field"/>
          <p:cNvSpPr/>
          <p:nvPr/>
        </p:nvSpPr>
        <p:spPr>
          <a:xfrm>
            <a:off x="5232400" y="4876800"/>
            <a:ext cx="3454400" cy="1143000"/>
          </a:xfrm>
          <a:prstGeom prst="roundRect">
            <a:avLst>
              <a:gd name="adj" fmla="val 13333"/>
            </a:avLst>
          </a:prstGeom>
          <a:solidFill>
            <a:srgbClr val="D7DEE8"/>
          </a:solidFill>
          <a:ln/>
        </p:spPr>
      </p:sp>
      <p:sp>
        <p:nvSpPr>
          <p:cNvPr id="23" name="teacher-ui-desc-label"/>
          <p:cNvSpPr/>
          <p:nvPr/>
        </p:nvSpPr>
        <p:spPr>
          <a:xfrm>
            <a:off x="5461000" y="50546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CONSIGNA</a:t>
            </a:r>
            <a:endParaRPr lang="en-US" sz="1100" dirty="0"/>
          </a:p>
        </p:txBody>
      </p:sp>
      <p:sp>
        <p:nvSpPr>
          <p:cNvPr id="24" name="teacher-ui-desc-value"/>
          <p:cNvSpPr/>
          <p:nvPr/>
        </p:nvSpPr>
        <p:spPr>
          <a:xfrm>
            <a:off x="5461000" y="5334000"/>
            <a:ext cx="2857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el diagrama y adjuntar la entrega.</a:t>
            </a:r>
            <a:endParaRPr lang="en-US" sz="1200" dirty="0"/>
          </a:p>
        </p:txBody>
      </p:sp>
      <p:sp>
        <p:nvSpPr>
          <p:cNvPr id="25" name="teacher-ui-deadline"/>
          <p:cNvSpPr/>
          <p:nvPr/>
        </p:nvSpPr>
        <p:spPr>
          <a:xfrm>
            <a:off x="8890000" y="4876800"/>
            <a:ext cx="2133600" cy="533400"/>
          </a:xfrm>
          <a:prstGeom prst="roundRect">
            <a:avLst>
              <a:gd name="adj" fmla="val 28571"/>
            </a:avLst>
          </a:prstGeom>
          <a:solidFill>
            <a:srgbClr val="FFF6D7"/>
          </a:solidFill>
          <a:ln/>
        </p:spPr>
      </p:sp>
      <p:pic>
        <p:nvPicPr>
          <p:cNvPr id="26" name="teacher-ui-deadlin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5029200"/>
            <a:ext cx="228600" cy="228600"/>
          </a:xfrm>
          <a:prstGeom prst="rect">
            <a:avLst/>
          </a:prstGeom>
        </p:spPr>
      </p:pic>
      <p:sp>
        <p:nvSpPr>
          <p:cNvPr id="27" name="teacher-ui-deadline-text"/>
          <p:cNvSpPr/>
          <p:nvPr/>
        </p:nvSpPr>
        <p:spPr>
          <a:xfrm>
            <a:off x="9398000" y="50419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Vence: viernes</a:t>
            </a:r>
            <a:endParaRPr lang="en-US" sz="1100" dirty="0"/>
          </a:p>
        </p:txBody>
      </p:sp>
      <p:sp>
        <p:nvSpPr>
          <p:cNvPr id="28" name="teacher-ui-file"/>
          <p:cNvSpPr/>
          <p:nvPr/>
        </p:nvSpPr>
        <p:spPr>
          <a:xfrm>
            <a:off x="8890000" y="5562600"/>
            <a:ext cx="2133600" cy="457200"/>
          </a:xfrm>
          <a:prstGeom prst="roundRect">
            <a:avLst>
              <a:gd name="adj" fmla="val 33333"/>
            </a:avLst>
          </a:prstGeom>
          <a:solidFill>
            <a:srgbClr val="EAF6F1"/>
          </a:solidFill>
          <a:ln/>
        </p:spPr>
      </p:sp>
      <p:pic>
        <p:nvPicPr>
          <p:cNvPr id="29" name="teacher-ui-fil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5676900"/>
            <a:ext cx="215900" cy="215900"/>
          </a:xfrm>
          <a:prstGeom prst="rect">
            <a:avLst/>
          </a:prstGeom>
        </p:spPr>
      </p:pic>
      <p:sp>
        <p:nvSpPr>
          <p:cNvPr id="30" name="teacher-ui-file-text"/>
          <p:cNvSpPr/>
          <p:nvPr/>
        </p:nvSpPr>
        <p:spPr>
          <a:xfrm>
            <a:off x="9398000" y="5689600"/>
            <a:ext cx="1397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Consigna.pdf</a:t>
            </a:r>
            <a:endParaRPr lang="en-US" sz="1100" dirty="0"/>
          </a:p>
        </p:txBody>
      </p:sp>
      <p:sp>
        <p:nvSpPr>
          <p:cNvPr id="31" name="teacher-ui-button"/>
          <p:cNvSpPr/>
          <p:nvPr/>
        </p:nvSpPr>
        <p:spPr>
          <a:xfrm>
            <a:off x="5232400" y="6273800"/>
            <a:ext cx="5791200" cy="508000"/>
          </a:xfrm>
          <a:prstGeom prst="roundRect">
            <a:avLst>
              <a:gd name="adj" fmla="val 30000"/>
            </a:avLst>
          </a:prstGeom>
          <a:solidFill>
            <a:srgbClr val="F4C542"/>
          </a:solidFill>
          <a:ln/>
        </p:spPr>
      </p:sp>
      <p:sp>
        <p:nvSpPr>
          <p:cNvPr id="32" name="teacher-ui-button-text"/>
          <p:cNvSpPr/>
          <p:nvPr/>
        </p:nvSpPr>
        <p:spPr>
          <a:xfrm>
            <a:off x="5232400" y="6426200"/>
            <a:ext cx="579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ACTIVIDAD</a:t>
            </a:r>
            <a:endParaRPr lang="en-US" sz="1300" dirty="0"/>
          </a:p>
        </p:txBody>
      </p:sp>
      <p:sp>
        <p:nvSpPr>
          <p:cNvPr id="33" name="teacher-note-right-1"/>
          <p:cNvSpPr/>
          <p:nvPr/>
        </p:nvSpPr>
        <p:spPr>
          <a:xfrm>
            <a:off x="12065000" y="2857500"/>
            <a:ext cx="3175000" cy="133350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4" name="teacher-note-right-icon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100" y="3162300"/>
            <a:ext cx="355600" cy="355600"/>
          </a:xfrm>
          <a:prstGeom prst="rect">
            <a:avLst/>
          </a:prstGeom>
        </p:spPr>
      </p:pic>
      <p:sp>
        <p:nvSpPr>
          <p:cNvPr id="35" name="teacher-note-right-title-1"/>
          <p:cNvSpPr/>
          <p:nvPr/>
        </p:nvSpPr>
        <p:spPr>
          <a:xfrm>
            <a:off x="12928600" y="3098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</a:t>
            </a:r>
            <a:endParaRPr lang="en-US" sz="1600" dirty="0"/>
          </a:p>
        </p:txBody>
      </p:sp>
      <p:sp>
        <p:nvSpPr>
          <p:cNvPr id="36" name="teacher-note-right-body-1"/>
          <p:cNvSpPr/>
          <p:nvPr/>
        </p:nvSpPr>
        <p:spPr>
          <a:xfrm>
            <a:off x="12357100" y="3568700"/>
            <a:ext cx="241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archivo, fecha y estado de cada entrega.</a:t>
            </a:r>
            <a:endParaRPr lang="en-US" sz="1300" dirty="0"/>
          </a:p>
        </p:txBody>
      </p:sp>
      <p:sp>
        <p:nvSpPr>
          <p:cNvPr id="37" name="teacher-note-right-2"/>
          <p:cNvSpPr/>
          <p:nvPr/>
        </p:nvSpPr>
        <p:spPr>
          <a:xfrm>
            <a:off x="12065000" y="4762500"/>
            <a:ext cx="3175000" cy="1333500"/>
          </a:xfrm>
          <a:prstGeom prst="roundRect">
            <a:avLst>
              <a:gd name="adj" fmla="val 15238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8" name="teacher-note-right-icon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100" y="5067300"/>
            <a:ext cx="355600" cy="355600"/>
          </a:xfrm>
          <a:prstGeom prst="rect">
            <a:avLst/>
          </a:prstGeom>
        </p:spPr>
      </p:pic>
      <p:sp>
        <p:nvSpPr>
          <p:cNvPr id="39" name="teacher-note-right-title-2"/>
          <p:cNvSpPr/>
          <p:nvPr/>
        </p:nvSpPr>
        <p:spPr>
          <a:xfrm>
            <a:off x="12928600" y="5003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Devolver</a:t>
            </a:r>
            <a:endParaRPr lang="en-US" sz="1600" dirty="0"/>
          </a:p>
        </p:txBody>
      </p:sp>
      <p:sp>
        <p:nvSpPr>
          <p:cNvPr id="40" name="teacher-note-right-body-2"/>
          <p:cNvSpPr/>
          <p:nvPr/>
        </p:nvSpPr>
        <p:spPr>
          <a:xfrm>
            <a:off x="12357100" y="5473700"/>
            <a:ext cx="241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Asignar calificación y comentario para el alumno.</a:t>
            </a:r>
            <a:endParaRPr lang="en-US" sz="1300" dirty="0"/>
          </a:p>
        </p:txBody>
      </p:sp>
      <p:sp>
        <p:nvSpPr>
          <p:cNvPr id="41" name="teacher-principle"/>
          <p:cNvSpPr/>
          <p:nvPr/>
        </p:nvSpPr>
        <p:spPr>
          <a:xfrm>
            <a:off x="1016000" y="7747000"/>
            <a:ext cx="14224000" cy="533400"/>
          </a:xfrm>
          <a:prstGeom prst="roundRect">
            <a:avLst>
              <a:gd name="adj" fmla="val 33333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42" name="teacher-principle-text"/>
          <p:cNvSpPr/>
          <p:nvPr/>
        </p:nvSpPr>
        <p:spPr>
          <a:xfrm>
            <a:off x="1333500" y="7886700"/>
            <a:ext cx="135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 UX: la actividad no es un módulo aislado; pertenece a la clase que le da significado.</a:t>
            </a:r>
            <a:endParaRPr lang="en-US" sz="1600" dirty="0"/>
          </a:p>
        </p:txBody>
      </p:sp>
      <p:sp>
        <p:nvSpPr>
          <p:cNvPr id="43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50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PANEL ADMINISTRATIVO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 institucional y validación</a:t>
            </a:r>
            <a:endParaRPr lang="en-US" sz="4200" dirty="0"/>
          </a:p>
        </p:txBody>
      </p:sp>
      <p:sp>
        <p:nvSpPr>
          <p:cNvPr id="6" name="admin-card-1"/>
          <p:cNvSpPr/>
          <p:nvPr/>
        </p:nvSpPr>
        <p:spPr>
          <a:xfrm>
            <a:off x="1016000" y="2794000"/>
            <a:ext cx="3556000" cy="133350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admin-card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124200"/>
            <a:ext cx="355600" cy="355600"/>
          </a:xfrm>
          <a:prstGeom prst="rect">
            <a:avLst/>
          </a:prstGeom>
        </p:spPr>
      </p:pic>
      <p:sp>
        <p:nvSpPr>
          <p:cNvPr id="8" name="admin-card-title-1"/>
          <p:cNvSpPr/>
          <p:nvPr/>
        </p:nvSpPr>
        <p:spPr>
          <a:xfrm>
            <a:off x="1917700" y="30353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Comisiones</a:t>
            </a:r>
            <a:endParaRPr lang="en-US" sz="1600" dirty="0"/>
          </a:p>
        </p:txBody>
      </p:sp>
      <p:sp>
        <p:nvSpPr>
          <p:cNvPr id="9" name="admin-card-body-1"/>
          <p:cNvSpPr/>
          <p:nvPr/>
        </p:nvSpPr>
        <p:spPr>
          <a:xfrm>
            <a:off x="1333500" y="35306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borradores, completar datos y activar.</a:t>
            </a:r>
            <a:endParaRPr lang="en-US" sz="1300" dirty="0"/>
          </a:p>
        </p:txBody>
      </p:sp>
      <p:sp>
        <p:nvSpPr>
          <p:cNvPr id="10" name="admin-card-2"/>
          <p:cNvSpPr/>
          <p:nvPr/>
        </p:nvSpPr>
        <p:spPr>
          <a:xfrm>
            <a:off x="1016000" y="4445000"/>
            <a:ext cx="3556000" cy="1333500"/>
          </a:xfrm>
          <a:prstGeom prst="roundRect">
            <a:avLst>
              <a:gd name="adj" fmla="val 15238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admin-card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4775200"/>
            <a:ext cx="355600" cy="355600"/>
          </a:xfrm>
          <a:prstGeom prst="rect">
            <a:avLst/>
          </a:prstGeom>
        </p:spPr>
      </p:pic>
      <p:sp>
        <p:nvSpPr>
          <p:cNvPr id="12" name="admin-card-title-2"/>
          <p:cNvSpPr/>
          <p:nvPr/>
        </p:nvSpPr>
        <p:spPr>
          <a:xfrm>
            <a:off x="1917700" y="46863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</a:t>
            </a:r>
            <a:endParaRPr lang="en-US" sz="1600" dirty="0"/>
          </a:p>
        </p:txBody>
      </p:sp>
      <p:sp>
        <p:nvSpPr>
          <p:cNvPr id="13" name="admin-card-body-2"/>
          <p:cNvSpPr/>
          <p:nvPr/>
        </p:nvSpPr>
        <p:spPr>
          <a:xfrm>
            <a:off x="1333500" y="51816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inscripciones y sesiones de asistencia.</a:t>
            </a:r>
            <a:endParaRPr lang="en-US" sz="1300" dirty="0"/>
          </a:p>
        </p:txBody>
      </p:sp>
      <p:sp>
        <p:nvSpPr>
          <p:cNvPr id="14" name="admin-card-3"/>
          <p:cNvSpPr/>
          <p:nvPr/>
        </p:nvSpPr>
        <p:spPr>
          <a:xfrm>
            <a:off x="1016000" y="6096000"/>
            <a:ext cx="3556000" cy="1333500"/>
          </a:xfrm>
          <a:prstGeom prst="roundRect">
            <a:avLst>
              <a:gd name="adj" fmla="val 15238"/>
            </a:avLst>
          </a:prstGeom>
          <a:solidFill>
            <a:srgbClr val="FFF6D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5" name="admin-card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6426200"/>
            <a:ext cx="355600" cy="355600"/>
          </a:xfrm>
          <a:prstGeom prst="rect">
            <a:avLst/>
          </a:prstGeom>
        </p:spPr>
      </p:pic>
      <p:sp>
        <p:nvSpPr>
          <p:cNvPr id="16" name="admin-card-title-3"/>
          <p:cNvSpPr/>
          <p:nvPr/>
        </p:nvSpPr>
        <p:spPr>
          <a:xfrm>
            <a:off x="1917700" y="63373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Justificaciones</a:t>
            </a:r>
            <a:endParaRPr lang="en-US" sz="1600" dirty="0"/>
          </a:p>
        </p:txBody>
      </p:sp>
      <p:sp>
        <p:nvSpPr>
          <p:cNvPr id="17" name="admin-card-body-3"/>
          <p:cNvSpPr/>
          <p:nvPr/>
        </p:nvSpPr>
        <p:spPr>
          <a:xfrm>
            <a:off x="1333500" y="68326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solicitudes con evidencia y observación.</a:t>
            </a:r>
            <a:endParaRPr lang="en-US" sz="1300" dirty="0"/>
          </a:p>
        </p:txBody>
      </p:sp>
      <p:sp>
        <p:nvSpPr>
          <p:cNvPr id="18" name="dashboard-shadow"/>
          <p:cNvSpPr/>
          <p:nvPr/>
        </p:nvSpPr>
        <p:spPr>
          <a:xfrm>
            <a:off x="5740400" y="2717800"/>
            <a:ext cx="9499600" cy="4889500"/>
          </a:xfrm>
          <a:prstGeom prst="roundRect">
            <a:avLst>
              <a:gd name="adj" fmla="val 5714"/>
            </a:avLst>
          </a:prstGeom>
          <a:solidFill>
            <a:srgbClr val="000000">
              <a:alpha val="33000"/>
            </a:srgbClr>
          </a:solidFill>
          <a:ln/>
        </p:spPr>
      </p:sp>
      <p:sp>
        <p:nvSpPr>
          <p:cNvPr id="19" name="dashboard-frame"/>
          <p:cNvSpPr/>
          <p:nvPr/>
        </p:nvSpPr>
        <p:spPr>
          <a:xfrm>
            <a:off x="5613400" y="2590800"/>
            <a:ext cx="9499600" cy="4889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dashboard-header"/>
          <p:cNvSpPr/>
          <p:nvPr/>
        </p:nvSpPr>
        <p:spPr>
          <a:xfrm>
            <a:off x="5892800" y="2857500"/>
            <a:ext cx="8940800" cy="88900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sp>
        <p:nvSpPr>
          <p:cNvPr id="21" name="dashboard-kicker"/>
          <p:cNvSpPr/>
          <p:nvPr/>
        </p:nvSpPr>
        <p:spPr>
          <a:xfrm>
            <a:off x="6197600" y="3048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ACADÉMICA</a:t>
            </a:r>
            <a:endParaRPr lang="en-US" sz="1100" dirty="0"/>
          </a:p>
        </p:txBody>
      </p:sp>
      <p:sp>
        <p:nvSpPr>
          <p:cNvPr id="22" name="dashboard-title"/>
          <p:cNvSpPr/>
          <p:nvPr/>
        </p:nvSpPr>
        <p:spPr>
          <a:xfrm>
            <a:off x="6197600" y="3302000"/>
            <a:ext cx="3556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Comisiones registradas</a:t>
            </a:r>
            <a:endParaRPr lang="en-US" sz="1800" dirty="0"/>
          </a:p>
        </p:txBody>
      </p:sp>
      <p:sp>
        <p:nvSpPr>
          <p:cNvPr id="23" name="dashboard-count"/>
          <p:cNvSpPr/>
          <p:nvPr/>
        </p:nvSpPr>
        <p:spPr>
          <a:xfrm>
            <a:off x="14008100" y="3060700"/>
            <a:ext cx="533400" cy="533400"/>
          </a:xfrm>
          <a:prstGeom prst="ellipse">
            <a:avLst/>
          </a:prstGeom>
          <a:solidFill>
            <a:srgbClr val="F4C542"/>
          </a:solidFill>
          <a:ln/>
        </p:spPr>
      </p:sp>
      <p:sp>
        <p:nvSpPr>
          <p:cNvPr id="24" name="dashboard-count-text"/>
          <p:cNvSpPr/>
          <p:nvPr/>
        </p:nvSpPr>
        <p:spPr>
          <a:xfrm>
            <a:off x="14008100" y="3225800"/>
            <a:ext cx="53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500" dirty="0"/>
          </a:p>
        </p:txBody>
      </p:sp>
      <p:sp>
        <p:nvSpPr>
          <p:cNvPr id="25" name="table-header-subject"/>
          <p:cNvSpPr/>
          <p:nvPr/>
        </p:nvSpPr>
        <p:spPr>
          <a:xfrm>
            <a:off x="6172200" y="40894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COMISIÓN</a:t>
            </a:r>
            <a:endParaRPr lang="en-US" sz="1100" dirty="0"/>
          </a:p>
        </p:txBody>
      </p:sp>
      <p:sp>
        <p:nvSpPr>
          <p:cNvPr id="26" name="table-header-teacher"/>
          <p:cNvSpPr/>
          <p:nvPr/>
        </p:nvSpPr>
        <p:spPr>
          <a:xfrm>
            <a:off x="9461500" y="40894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</a:t>
            </a:r>
            <a:endParaRPr lang="en-US" sz="1100" dirty="0"/>
          </a:p>
        </p:txBody>
      </p:sp>
      <p:sp>
        <p:nvSpPr>
          <p:cNvPr id="27" name="table-header-status"/>
          <p:cNvSpPr/>
          <p:nvPr/>
        </p:nvSpPr>
        <p:spPr>
          <a:xfrm>
            <a:off x="12890500" y="40894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</a:t>
            </a:r>
            <a:endParaRPr lang="en-US" sz="1100" dirty="0"/>
          </a:p>
        </p:txBody>
      </p:sp>
      <p:sp>
        <p:nvSpPr>
          <p:cNvPr id="28" name="table-row-1"/>
          <p:cNvSpPr/>
          <p:nvPr/>
        </p:nvSpPr>
        <p:spPr>
          <a:xfrm>
            <a:off x="5892800" y="4368800"/>
            <a:ext cx="8940800" cy="736600"/>
          </a:xfrm>
          <a:prstGeom prst="roundRect">
            <a:avLst>
              <a:gd name="adj" fmla="val 17241"/>
            </a:avLst>
          </a:prstGeom>
          <a:solidFill>
            <a:srgbClr val="D7DEE8"/>
          </a:solidFill>
          <a:ln/>
        </p:spPr>
      </p:sp>
      <p:sp>
        <p:nvSpPr>
          <p:cNvPr id="29" name="table-row-1-subject"/>
          <p:cNvSpPr/>
          <p:nvPr/>
        </p:nvSpPr>
        <p:spPr>
          <a:xfrm>
            <a:off x="6172200" y="4597400"/>
            <a:ext cx="292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Datos · 2° A</a:t>
            </a:r>
            <a:endParaRPr lang="en-US" sz="1400" dirty="0"/>
          </a:p>
        </p:txBody>
      </p:sp>
      <p:sp>
        <p:nvSpPr>
          <p:cNvPr id="30" name="table-row-1-teacher"/>
          <p:cNvSpPr/>
          <p:nvPr/>
        </p:nvSpPr>
        <p:spPr>
          <a:xfrm>
            <a:off x="9461500" y="4597400"/>
            <a:ext cx="228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Laura Méndez</a:t>
            </a:r>
            <a:endParaRPr lang="en-US" sz="1300" dirty="0"/>
          </a:p>
        </p:txBody>
      </p:sp>
      <p:sp>
        <p:nvSpPr>
          <p:cNvPr id="31" name="table-row-1-status"/>
          <p:cNvSpPr/>
          <p:nvPr/>
        </p:nvSpPr>
        <p:spPr>
          <a:xfrm>
            <a:off x="12827000" y="4533900"/>
            <a:ext cx="1168400" cy="317500"/>
          </a:xfrm>
          <a:prstGeom prst="roundRect">
            <a:avLst>
              <a:gd name="adj" fmla="val 48000"/>
            </a:avLst>
          </a:prstGeom>
          <a:solidFill>
            <a:srgbClr val="EAF6F1"/>
          </a:solidFill>
          <a:ln/>
        </p:spPr>
      </p:sp>
      <p:sp>
        <p:nvSpPr>
          <p:cNvPr id="32" name="table-row-1-status-text"/>
          <p:cNvSpPr/>
          <p:nvPr/>
        </p:nvSpPr>
        <p:spPr>
          <a:xfrm>
            <a:off x="12827000" y="4622800"/>
            <a:ext cx="116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</a:t>
            </a:r>
            <a:endParaRPr lang="en-US" sz="1000" dirty="0"/>
          </a:p>
        </p:txBody>
      </p:sp>
      <p:sp>
        <p:nvSpPr>
          <p:cNvPr id="33" name="table-row-2"/>
          <p:cNvSpPr/>
          <p:nvPr/>
        </p:nvSpPr>
        <p:spPr>
          <a:xfrm>
            <a:off x="5892800" y="5257800"/>
            <a:ext cx="8940800" cy="736600"/>
          </a:xfrm>
          <a:prstGeom prst="roundRect">
            <a:avLst>
              <a:gd name="adj" fmla="val 17241"/>
            </a:avLst>
          </a:prstGeom>
          <a:solidFill>
            <a:srgbClr val="D7DEE8"/>
          </a:solidFill>
          <a:ln/>
        </p:spPr>
      </p:sp>
      <p:sp>
        <p:nvSpPr>
          <p:cNvPr id="34" name="table-row-2-subject"/>
          <p:cNvSpPr/>
          <p:nvPr/>
        </p:nvSpPr>
        <p:spPr>
          <a:xfrm>
            <a:off x="6172200" y="5486400"/>
            <a:ext cx="292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Programación II · 2° B</a:t>
            </a:r>
            <a:endParaRPr lang="en-US" sz="1400" dirty="0"/>
          </a:p>
        </p:txBody>
      </p:sp>
      <p:sp>
        <p:nvSpPr>
          <p:cNvPr id="35" name="table-row-2-teacher"/>
          <p:cNvSpPr/>
          <p:nvPr/>
        </p:nvSpPr>
        <p:spPr>
          <a:xfrm>
            <a:off x="9461500" y="5486400"/>
            <a:ext cx="228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Laura Méndez</a:t>
            </a:r>
            <a:endParaRPr lang="en-US" sz="1300" dirty="0"/>
          </a:p>
        </p:txBody>
      </p:sp>
      <p:sp>
        <p:nvSpPr>
          <p:cNvPr id="36" name="table-row-2-status"/>
          <p:cNvSpPr/>
          <p:nvPr/>
        </p:nvSpPr>
        <p:spPr>
          <a:xfrm>
            <a:off x="12827000" y="5422900"/>
            <a:ext cx="1270000" cy="317500"/>
          </a:xfrm>
          <a:prstGeom prst="roundRect">
            <a:avLst>
              <a:gd name="adj" fmla="val 48000"/>
            </a:avLst>
          </a:prstGeom>
          <a:solidFill>
            <a:srgbClr val="FFF6D7"/>
          </a:solidFill>
          <a:ln/>
        </p:spPr>
      </p:sp>
      <p:sp>
        <p:nvSpPr>
          <p:cNvPr id="37" name="table-row-2-status-text"/>
          <p:cNvSpPr/>
          <p:nvPr/>
        </p:nvSpPr>
        <p:spPr>
          <a:xfrm>
            <a:off x="12827000" y="55118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BORRADOR</a:t>
            </a:r>
            <a:endParaRPr lang="en-US" sz="1000" dirty="0"/>
          </a:p>
        </p:txBody>
      </p:sp>
      <p:sp>
        <p:nvSpPr>
          <p:cNvPr id="38" name="justification-row"/>
          <p:cNvSpPr/>
          <p:nvPr/>
        </p:nvSpPr>
        <p:spPr>
          <a:xfrm>
            <a:off x="5892800" y="6286500"/>
            <a:ext cx="8940800" cy="889000"/>
          </a:xfrm>
          <a:prstGeom prst="roundRect">
            <a:avLst>
              <a:gd name="adj" fmla="val 17143"/>
            </a:avLst>
          </a:prstGeom>
          <a:solidFill>
            <a:srgbClr val="0B1F3A"/>
          </a:solidFill>
          <a:ln/>
        </p:spPr>
      </p:sp>
      <p:pic>
        <p:nvPicPr>
          <p:cNvPr id="39" name="justification-row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6565900"/>
            <a:ext cx="355600" cy="355600"/>
          </a:xfrm>
          <a:prstGeom prst="rect">
            <a:avLst/>
          </a:prstGeom>
        </p:spPr>
      </p:pic>
      <p:sp>
        <p:nvSpPr>
          <p:cNvPr id="40" name="justification-row-title"/>
          <p:cNvSpPr/>
          <p:nvPr/>
        </p:nvSpPr>
        <p:spPr>
          <a:xfrm>
            <a:off x="6781800" y="6477000"/>
            <a:ext cx="469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Justificación de inasistencia · Sofía Ramírez</a:t>
            </a:r>
            <a:endParaRPr lang="en-US" sz="1500" dirty="0"/>
          </a:p>
        </p:txBody>
      </p:sp>
      <p:sp>
        <p:nvSpPr>
          <p:cNvPr id="41" name="justification-row-detail"/>
          <p:cNvSpPr/>
          <p:nvPr/>
        </p:nvSpPr>
        <p:spPr>
          <a:xfrm>
            <a:off x="6781800" y="6807200"/>
            <a:ext cx="469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Comentario + constancia adjunta · pendiente de decisión</a:t>
            </a:r>
            <a:endParaRPr lang="en-US" sz="1100" dirty="0"/>
          </a:p>
        </p:txBody>
      </p:sp>
      <p:sp>
        <p:nvSpPr>
          <p:cNvPr id="42" name="justification-action"/>
          <p:cNvSpPr/>
          <p:nvPr/>
        </p:nvSpPr>
        <p:spPr>
          <a:xfrm>
            <a:off x="12865100" y="6553200"/>
            <a:ext cx="1587500" cy="3810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43" name="justification-action-text"/>
          <p:cNvSpPr/>
          <p:nvPr/>
        </p:nvSpPr>
        <p:spPr>
          <a:xfrm>
            <a:off x="12865100" y="6667500"/>
            <a:ext cx="158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000" dirty="0"/>
          </a:p>
        </p:txBody>
      </p:sp>
      <p:sp>
        <p:nvSpPr>
          <p:cNvPr id="44" name="admin-principle"/>
          <p:cNvSpPr/>
          <p:nvPr/>
        </p:nvSpPr>
        <p:spPr>
          <a:xfrm>
            <a:off x="1016000" y="79375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rol administrativo asegura trazabilidad institucional; no sustituye la corrección pedagógica.</a:t>
            </a:r>
            <a:endParaRPr lang="en-US" sz="1600" dirty="0"/>
          </a:p>
        </p:txBody>
      </p:sp>
      <p:sp>
        <p:nvSpPr>
          <p:cNvPr id="45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ARQUITECTURA DE INFORMACIÓN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Navegación simple, contexto claro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006600"/>
            <a:ext cx="1206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flujo conecta roles sin exponer opciones innecesarias: Alumno envía, Docente o Administrativo revisa y el estado vuelve al historial.</a:t>
            </a:r>
            <a:endParaRPr lang="en-US" sz="1800" dirty="0"/>
          </a:p>
        </p:txBody>
      </p:sp>
      <p:sp>
        <p:nvSpPr>
          <p:cNvPr id="7" name="diagram-frame"/>
          <p:cNvSpPr/>
          <p:nvPr/>
        </p:nvSpPr>
        <p:spPr>
          <a:xfrm>
            <a:off x="1016000" y="2578100"/>
            <a:ext cx="14224000" cy="4445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flow-diagram" descr="preencoded.png">    </p:cNvPr>
          <p:cNvPicPr>
            <a:picLocks noChangeAspect="1"/>
          </p:cNvPicPr>
          <p:nvPr/>
        </p:nvPicPr>
        <p:blipFill>
          <a:blip r:embed="rId1"/>
          <a:srcRect l="-11679" r="-11679" t="0" b="0"/>
          <a:stretch/>
        </p:blipFill>
        <p:spPr>
          <a:xfrm>
            <a:off x="1219200" y="2768600"/>
            <a:ext cx="13817600" cy="4064000"/>
          </a:xfrm>
          <a:prstGeom prst="roundRect">
            <a:avLst>
              <a:gd name="adj" fmla="val 4375"/>
            </a:avLst>
          </a:prstGeom>
        </p:spPr>
      </p:pic>
      <p:sp>
        <p:nvSpPr>
          <p:cNvPr id="9" name="tab-card-1"/>
          <p:cNvSpPr/>
          <p:nvPr/>
        </p:nvSpPr>
        <p:spPr>
          <a:xfrm>
            <a:off x="2794000" y="7429500"/>
            <a:ext cx="2794000" cy="533400"/>
          </a:xfrm>
          <a:prstGeom prst="roundRect">
            <a:avLst>
              <a:gd name="adj" fmla="val 380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10" name="tab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0" y="7569200"/>
            <a:ext cx="254000" cy="254000"/>
          </a:xfrm>
          <a:prstGeom prst="rect">
            <a:avLst/>
          </a:prstGeom>
        </p:spPr>
      </p:pic>
      <p:sp>
        <p:nvSpPr>
          <p:cNvPr id="11" name="tab-text-1"/>
          <p:cNvSpPr/>
          <p:nvPr/>
        </p:nvSpPr>
        <p:spPr>
          <a:xfrm>
            <a:off x="3467100" y="7594600"/>
            <a:ext cx="177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 y Agenda</a:t>
            </a:r>
            <a:endParaRPr lang="en-US" sz="1300" dirty="0"/>
          </a:p>
        </p:txBody>
      </p:sp>
      <p:sp>
        <p:nvSpPr>
          <p:cNvPr id="12" name="tab-card-2"/>
          <p:cNvSpPr/>
          <p:nvPr/>
        </p:nvSpPr>
        <p:spPr>
          <a:xfrm>
            <a:off x="6731000" y="7429500"/>
            <a:ext cx="2794000" cy="533400"/>
          </a:xfrm>
          <a:prstGeom prst="roundRect">
            <a:avLst>
              <a:gd name="adj" fmla="val 380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13" name="tab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0" y="7569200"/>
            <a:ext cx="254000" cy="254000"/>
          </a:xfrm>
          <a:prstGeom prst="rect">
            <a:avLst/>
          </a:prstGeom>
        </p:spPr>
      </p:pic>
      <p:sp>
        <p:nvSpPr>
          <p:cNvPr id="14" name="tab-text-2"/>
          <p:cNvSpPr/>
          <p:nvPr/>
        </p:nvSpPr>
        <p:spPr>
          <a:xfrm>
            <a:off x="7404100" y="7594600"/>
            <a:ext cx="177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QR</a:t>
            </a:r>
            <a:endParaRPr lang="en-US" sz="1300" dirty="0"/>
          </a:p>
        </p:txBody>
      </p:sp>
      <p:sp>
        <p:nvSpPr>
          <p:cNvPr id="15" name="tab-card-3"/>
          <p:cNvSpPr/>
          <p:nvPr/>
        </p:nvSpPr>
        <p:spPr>
          <a:xfrm>
            <a:off x="10668000" y="7429500"/>
            <a:ext cx="2794000" cy="533400"/>
          </a:xfrm>
          <a:prstGeom prst="roundRect">
            <a:avLst>
              <a:gd name="adj" fmla="val 380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16" name="tab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700" y="7569200"/>
            <a:ext cx="254000" cy="254000"/>
          </a:xfrm>
          <a:prstGeom prst="rect">
            <a:avLst/>
          </a:prstGeom>
        </p:spPr>
      </p:pic>
      <p:sp>
        <p:nvSpPr>
          <p:cNvPr id="17" name="tab-text-3"/>
          <p:cNvSpPr/>
          <p:nvPr/>
        </p:nvSpPr>
        <p:spPr>
          <a:xfrm>
            <a:off x="11341100" y="7594600"/>
            <a:ext cx="177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y cambio de rol</a:t>
            </a:r>
            <a:endParaRPr lang="en-US" sz="1300" dirty="0"/>
          </a:p>
        </p:txBody>
      </p:sp>
      <p:sp>
        <p:nvSpPr>
          <p:cNvPr id="18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SISTEMA VISUAL Y ACCESIBILIDAD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Institucional, legible y táctil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006600"/>
            <a:ext cx="1193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combina jerarquía visual, estados claros y controles fáciles de identificar en pantalla móvil.</a:t>
            </a:r>
            <a:endParaRPr lang="en-US" sz="1800" dirty="0"/>
          </a:p>
        </p:txBody>
      </p:sp>
      <p:sp>
        <p:nvSpPr>
          <p:cNvPr id="7" name="swatch-1"/>
          <p:cNvSpPr/>
          <p:nvPr/>
        </p:nvSpPr>
        <p:spPr>
          <a:xfrm>
            <a:off x="1016000" y="2730500"/>
            <a:ext cx="2286000" cy="863600"/>
          </a:xfrm>
          <a:prstGeom prst="roundRect">
            <a:avLst>
              <a:gd name="adj" fmla="val 22059"/>
            </a:avLst>
          </a:prstGeom>
          <a:solidFill>
            <a:srgbClr val="0B1F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watch-1-name"/>
          <p:cNvSpPr/>
          <p:nvPr/>
        </p:nvSpPr>
        <p:spPr>
          <a:xfrm>
            <a:off x="1219200" y="29083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AZUL NOCHE</a:t>
            </a:r>
            <a:endParaRPr lang="en-US" sz="1200" dirty="0"/>
          </a:p>
        </p:txBody>
      </p:sp>
      <p:sp>
        <p:nvSpPr>
          <p:cNvPr id="9" name="swatch-1-code"/>
          <p:cNvSpPr/>
          <p:nvPr/>
        </p:nvSpPr>
        <p:spPr>
          <a:xfrm>
            <a:off x="1219200" y="31877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#0B1F3A</a:t>
            </a:r>
            <a:endParaRPr lang="en-US" sz="1500" dirty="0"/>
          </a:p>
        </p:txBody>
      </p:sp>
      <p:sp>
        <p:nvSpPr>
          <p:cNvPr id="10" name="swatch-2"/>
          <p:cNvSpPr/>
          <p:nvPr/>
        </p:nvSpPr>
        <p:spPr>
          <a:xfrm>
            <a:off x="3505200" y="2730500"/>
            <a:ext cx="2286000" cy="863600"/>
          </a:xfrm>
          <a:prstGeom prst="roundRect">
            <a:avLst>
              <a:gd name="adj" fmla="val 22059"/>
            </a:avLst>
          </a:prstGeom>
          <a:solidFill>
            <a:srgbClr val="D7DEE8"/>
          </a:solidFill>
          <a:ln/>
        </p:spPr>
      </p:sp>
      <p:sp>
        <p:nvSpPr>
          <p:cNvPr id="11" name="swatch-2-name"/>
          <p:cNvSpPr/>
          <p:nvPr/>
        </p:nvSpPr>
        <p:spPr>
          <a:xfrm>
            <a:off x="3708400" y="29083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GRIS PLATA</a:t>
            </a:r>
            <a:endParaRPr lang="en-US" sz="1200" dirty="0"/>
          </a:p>
        </p:txBody>
      </p:sp>
      <p:sp>
        <p:nvSpPr>
          <p:cNvPr id="12" name="swatch-2-code"/>
          <p:cNvSpPr/>
          <p:nvPr/>
        </p:nvSpPr>
        <p:spPr>
          <a:xfrm>
            <a:off x="3708400" y="31877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#D7DEE8</a:t>
            </a:r>
            <a:endParaRPr lang="en-US" sz="1500" dirty="0"/>
          </a:p>
        </p:txBody>
      </p:sp>
      <p:sp>
        <p:nvSpPr>
          <p:cNvPr id="13" name="swatch-3"/>
          <p:cNvSpPr/>
          <p:nvPr/>
        </p:nvSpPr>
        <p:spPr>
          <a:xfrm>
            <a:off x="5994400" y="2730500"/>
            <a:ext cx="2286000" cy="863600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/>
        </p:spPr>
      </p:sp>
      <p:sp>
        <p:nvSpPr>
          <p:cNvPr id="14" name="swatch-3-name"/>
          <p:cNvSpPr/>
          <p:nvPr/>
        </p:nvSpPr>
        <p:spPr>
          <a:xfrm>
            <a:off x="6197600" y="29083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BLANCO</a:t>
            </a:r>
            <a:endParaRPr lang="en-US" sz="1200" dirty="0"/>
          </a:p>
        </p:txBody>
      </p:sp>
      <p:sp>
        <p:nvSpPr>
          <p:cNvPr id="15" name="swatch-3-code"/>
          <p:cNvSpPr/>
          <p:nvPr/>
        </p:nvSpPr>
        <p:spPr>
          <a:xfrm>
            <a:off x="6197600" y="31877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1500" dirty="0"/>
          </a:p>
        </p:txBody>
      </p:sp>
      <p:sp>
        <p:nvSpPr>
          <p:cNvPr id="16" name="swatch-4"/>
          <p:cNvSpPr/>
          <p:nvPr/>
        </p:nvSpPr>
        <p:spPr>
          <a:xfrm>
            <a:off x="8483600" y="2730500"/>
            <a:ext cx="2286000" cy="863600"/>
          </a:xfrm>
          <a:prstGeom prst="roundRect">
            <a:avLst>
              <a:gd name="adj" fmla="val 22059"/>
            </a:avLst>
          </a:prstGeom>
          <a:solidFill>
            <a:srgbClr val="F4C542"/>
          </a:solidFill>
          <a:ln/>
        </p:spPr>
      </p:sp>
      <p:sp>
        <p:nvSpPr>
          <p:cNvPr id="17" name="swatch-4-name"/>
          <p:cNvSpPr/>
          <p:nvPr/>
        </p:nvSpPr>
        <p:spPr>
          <a:xfrm>
            <a:off x="8686800" y="29083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AMARILLO</a:t>
            </a:r>
            <a:endParaRPr lang="en-US" sz="1200" dirty="0"/>
          </a:p>
        </p:txBody>
      </p:sp>
      <p:sp>
        <p:nvSpPr>
          <p:cNvPr id="18" name="swatch-4-code"/>
          <p:cNvSpPr/>
          <p:nvPr/>
        </p:nvSpPr>
        <p:spPr>
          <a:xfrm>
            <a:off x="8686800" y="31877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#F4C542</a:t>
            </a:r>
            <a:endParaRPr lang="en-US" sz="1500" dirty="0"/>
          </a:p>
        </p:txBody>
      </p:sp>
      <p:sp>
        <p:nvSpPr>
          <p:cNvPr id="19" name="swatch-5"/>
          <p:cNvSpPr/>
          <p:nvPr/>
        </p:nvSpPr>
        <p:spPr>
          <a:xfrm>
            <a:off x="10972800" y="2730500"/>
            <a:ext cx="1981200" cy="863600"/>
          </a:xfrm>
          <a:prstGeom prst="roundRect">
            <a:avLst>
              <a:gd name="adj" fmla="val 22059"/>
            </a:avLst>
          </a:prstGeom>
          <a:solidFill>
            <a:srgbClr val="22C55E"/>
          </a:solidFill>
          <a:ln/>
        </p:spPr>
      </p:sp>
      <p:sp>
        <p:nvSpPr>
          <p:cNvPr id="20" name="swatch-5-name"/>
          <p:cNvSpPr/>
          <p:nvPr/>
        </p:nvSpPr>
        <p:spPr>
          <a:xfrm>
            <a:off x="11176000" y="2908300"/>
            <a:ext cx="157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ÉXITO</a:t>
            </a:r>
            <a:endParaRPr lang="en-US" sz="1200" dirty="0"/>
          </a:p>
        </p:txBody>
      </p:sp>
      <p:sp>
        <p:nvSpPr>
          <p:cNvPr id="21" name="swatch-5-code"/>
          <p:cNvSpPr/>
          <p:nvPr/>
        </p:nvSpPr>
        <p:spPr>
          <a:xfrm>
            <a:off x="11176000" y="3187700"/>
            <a:ext cx="157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#22C55E</a:t>
            </a:r>
            <a:endParaRPr lang="en-US" sz="1500" dirty="0"/>
          </a:p>
        </p:txBody>
      </p:sp>
      <p:sp>
        <p:nvSpPr>
          <p:cNvPr id="22" name="swatch-6"/>
          <p:cNvSpPr/>
          <p:nvPr/>
        </p:nvSpPr>
        <p:spPr>
          <a:xfrm>
            <a:off x="13157200" y="2730500"/>
            <a:ext cx="2082800" cy="863600"/>
          </a:xfrm>
          <a:prstGeom prst="roundRect">
            <a:avLst>
              <a:gd name="adj" fmla="val 22059"/>
            </a:avLst>
          </a:prstGeom>
          <a:solidFill>
            <a:srgbClr val="EF4444"/>
          </a:solidFill>
          <a:ln/>
        </p:spPr>
      </p:sp>
      <p:sp>
        <p:nvSpPr>
          <p:cNvPr id="23" name="swatch-6-name"/>
          <p:cNvSpPr/>
          <p:nvPr/>
        </p:nvSpPr>
        <p:spPr>
          <a:xfrm>
            <a:off x="13360400" y="290830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200" dirty="0"/>
          </a:p>
        </p:txBody>
      </p:sp>
      <p:sp>
        <p:nvSpPr>
          <p:cNvPr id="24" name="swatch-6-code"/>
          <p:cNvSpPr/>
          <p:nvPr/>
        </p:nvSpPr>
        <p:spPr>
          <a:xfrm>
            <a:off x="13360400" y="31877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#EF4444</a:t>
            </a:r>
            <a:endParaRPr lang="en-US" sz="1500" dirty="0"/>
          </a:p>
        </p:txBody>
      </p:sp>
      <p:sp>
        <p:nvSpPr>
          <p:cNvPr id="25" name="a11y-card-1"/>
          <p:cNvSpPr/>
          <p:nvPr/>
        </p:nvSpPr>
        <p:spPr>
          <a:xfrm>
            <a:off x="1016000" y="4318000"/>
            <a:ext cx="6807200" cy="133350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6" name="a11y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686300"/>
            <a:ext cx="406400" cy="406400"/>
          </a:xfrm>
          <a:prstGeom prst="rect">
            <a:avLst/>
          </a:prstGeom>
        </p:spPr>
      </p:pic>
      <p:sp>
        <p:nvSpPr>
          <p:cNvPr id="27" name="a11y-title-1"/>
          <p:cNvSpPr/>
          <p:nvPr/>
        </p:nvSpPr>
        <p:spPr>
          <a:xfrm>
            <a:off x="2032000" y="4572000"/>
            <a:ext cx="520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Estados perceptibles</a:t>
            </a:r>
            <a:endParaRPr lang="en-US" sz="1800" dirty="0"/>
          </a:p>
        </p:txBody>
      </p:sp>
      <p:sp>
        <p:nvSpPr>
          <p:cNvPr id="28" name="a11y-body-1"/>
          <p:cNvSpPr/>
          <p:nvPr/>
        </p:nvSpPr>
        <p:spPr>
          <a:xfrm>
            <a:off x="2032000" y="49784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Color, iconos y etiquetas textuales comunican asistencia, actividades y decisiones.</a:t>
            </a:r>
            <a:endParaRPr lang="en-US" sz="1300" dirty="0"/>
          </a:p>
        </p:txBody>
      </p:sp>
      <p:sp>
        <p:nvSpPr>
          <p:cNvPr id="29" name="a11y-card-2"/>
          <p:cNvSpPr/>
          <p:nvPr/>
        </p:nvSpPr>
        <p:spPr>
          <a:xfrm>
            <a:off x="8432800" y="4318000"/>
            <a:ext cx="6807200" cy="1333500"/>
          </a:xfrm>
          <a:prstGeom prst="roundRect">
            <a:avLst>
              <a:gd name="adj" fmla="val 16190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0" name="a11y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0" y="4686300"/>
            <a:ext cx="406400" cy="406400"/>
          </a:xfrm>
          <a:prstGeom prst="rect">
            <a:avLst/>
          </a:prstGeom>
        </p:spPr>
      </p:pic>
      <p:sp>
        <p:nvSpPr>
          <p:cNvPr id="31" name="a11y-title-2"/>
          <p:cNvSpPr/>
          <p:nvPr/>
        </p:nvSpPr>
        <p:spPr>
          <a:xfrm>
            <a:off x="9448800" y="4572000"/>
            <a:ext cx="520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Interacción visible</a:t>
            </a:r>
            <a:endParaRPr lang="en-US" sz="1800" dirty="0"/>
          </a:p>
        </p:txBody>
      </p:sp>
      <p:sp>
        <p:nvSpPr>
          <p:cNvPr id="32" name="a11y-body-2"/>
          <p:cNvSpPr/>
          <p:nvPr/>
        </p:nvSpPr>
        <p:spPr>
          <a:xfrm>
            <a:off x="9448800" y="49784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Tarjetas y botones con padding, feedback de presión y acciones explícitas.</a:t>
            </a:r>
            <a:endParaRPr lang="en-US" sz="1300" dirty="0"/>
          </a:p>
        </p:txBody>
      </p:sp>
      <p:sp>
        <p:nvSpPr>
          <p:cNvPr id="33" name="a11y-card-3"/>
          <p:cNvSpPr/>
          <p:nvPr/>
        </p:nvSpPr>
        <p:spPr>
          <a:xfrm>
            <a:off x="1016000" y="6032500"/>
            <a:ext cx="6807200" cy="1333500"/>
          </a:xfrm>
          <a:prstGeom prst="roundRect">
            <a:avLst>
              <a:gd name="adj" fmla="val 16190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4" name="a11y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400800"/>
            <a:ext cx="406400" cy="406400"/>
          </a:xfrm>
          <a:prstGeom prst="rect">
            <a:avLst/>
          </a:prstGeom>
        </p:spPr>
      </p:pic>
      <p:sp>
        <p:nvSpPr>
          <p:cNvPr id="35" name="a11y-title-3"/>
          <p:cNvSpPr/>
          <p:nvPr/>
        </p:nvSpPr>
        <p:spPr>
          <a:xfrm>
            <a:off x="2032000" y="6286500"/>
            <a:ext cx="520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Navegación coherente</a:t>
            </a:r>
            <a:endParaRPr lang="en-US" sz="1800" dirty="0"/>
          </a:p>
        </p:txBody>
      </p:sp>
      <p:sp>
        <p:nvSpPr>
          <p:cNvPr id="36" name="a11y-body-3"/>
          <p:cNvSpPr/>
          <p:nvPr/>
        </p:nvSpPr>
        <p:spPr>
          <a:xfrm>
            <a:off x="2032000" y="66929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Pestañas persistentes, volver visible y cambio de identidad en una única ruta.</a:t>
            </a:r>
            <a:endParaRPr lang="en-US" sz="1300" dirty="0"/>
          </a:p>
        </p:txBody>
      </p:sp>
      <p:sp>
        <p:nvSpPr>
          <p:cNvPr id="37" name="a11y-card-4"/>
          <p:cNvSpPr/>
          <p:nvPr/>
        </p:nvSpPr>
        <p:spPr>
          <a:xfrm>
            <a:off x="8432800" y="6032500"/>
            <a:ext cx="6807200" cy="1333500"/>
          </a:xfrm>
          <a:prstGeom prst="roundRect">
            <a:avLst>
              <a:gd name="adj" fmla="val 16190"/>
            </a:avLst>
          </a:prstGeom>
          <a:solidFill>
            <a:srgbClr val="FFF6D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8" name="a11y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00" y="6400800"/>
            <a:ext cx="406400" cy="406400"/>
          </a:xfrm>
          <a:prstGeom prst="rect">
            <a:avLst/>
          </a:prstGeom>
        </p:spPr>
      </p:pic>
      <p:sp>
        <p:nvSpPr>
          <p:cNvPr id="39" name="a11y-title-4"/>
          <p:cNvSpPr/>
          <p:nvPr/>
        </p:nvSpPr>
        <p:spPr>
          <a:xfrm>
            <a:off x="9448800" y="6286500"/>
            <a:ext cx="520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Siguiente auditoría</a:t>
            </a:r>
            <a:endParaRPr lang="en-US" sz="1800" dirty="0"/>
          </a:p>
        </p:txBody>
      </p:sp>
      <p:sp>
        <p:nvSpPr>
          <p:cNvPr id="40" name="a11y-body-4"/>
          <p:cNvSpPr/>
          <p:nvPr/>
        </p:nvSpPr>
        <p:spPr>
          <a:xfrm>
            <a:off x="9448800" y="66929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AA, VoiceOver y Dynamic Type requieren prueba formal en dispositivos.</a:t>
            </a:r>
            <a:endParaRPr lang="en-US" sz="1300" dirty="0"/>
          </a:p>
        </p:txBody>
      </p:sp>
      <p:sp>
        <p:nvSpPr>
          <p:cNvPr id="41" name="a11y-reference"/>
          <p:cNvSpPr/>
          <p:nvPr/>
        </p:nvSpPr>
        <p:spPr>
          <a:xfrm>
            <a:off x="1016000" y="7874000"/>
            <a:ext cx="133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Referencias: Apple HIG propone interfaces intuitivas, perceptibles y adaptables; WCAG 2.2: perceptible, operable, comprensible y robusta.</a:t>
            </a:r>
            <a:endParaRPr lang="en-US" sz="1300" dirty="0"/>
          </a:p>
        </p:txBody>
      </p:sp>
      <p:sp>
        <p:nvSpPr>
          <p:cNvPr id="42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slide-kicker"/>
          <p:cNvSpPr/>
          <p:nvPr/>
        </p:nvSpPr>
        <p:spPr>
          <a:xfrm>
            <a:off x="1016000" y="812800"/>
            <a:ext cx="406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PROYECTO CON IA</a:t>
            </a:r>
            <a:endParaRPr lang="en-US" sz="1400" dirty="0"/>
          </a:p>
        </p:txBody>
      </p:sp>
      <p:sp>
        <p:nvSpPr>
          <p:cNvPr id="5" name="slide-title"/>
          <p:cNvSpPr/>
          <p:nvPr/>
        </p:nvSpPr>
        <p:spPr>
          <a:xfrm>
            <a:off x="1016000" y="1244600"/>
            <a:ext cx="889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como copiloto de desarrollo</a:t>
            </a:r>
            <a:endParaRPr lang="en-US" sz="4200" dirty="0"/>
          </a:p>
        </p:txBody>
      </p:sp>
      <p:sp>
        <p:nvSpPr>
          <p:cNvPr id="6" name="slide-intro"/>
          <p:cNvSpPr/>
          <p:nvPr/>
        </p:nvSpPr>
        <p:spPr>
          <a:xfrm>
            <a:off x="1016000" y="2006600"/>
            <a:ext cx="1168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aceleró la exploración y producción; las decisiones de producto se revisaron en contexto.</a:t>
            </a:r>
            <a:endParaRPr lang="en-US" sz="1900" dirty="0"/>
          </a:p>
        </p:txBody>
      </p:sp>
      <p:sp>
        <p:nvSpPr>
          <p:cNvPr id="7" name="process-label"/>
          <p:cNvSpPr/>
          <p:nvPr/>
        </p:nvSpPr>
        <p:spPr>
          <a:xfrm>
            <a:off x="1016000" y="2794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APORTES DE IA</a:t>
            </a:r>
            <a:endParaRPr lang="en-US" sz="1400" dirty="0"/>
          </a:p>
        </p:txBody>
      </p:sp>
      <p:sp>
        <p:nvSpPr>
          <p:cNvPr id="8" name="ia-step-1"/>
          <p:cNvSpPr/>
          <p:nvPr/>
        </p:nvSpPr>
        <p:spPr>
          <a:xfrm>
            <a:off x="1016000" y="3200400"/>
            <a:ext cx="7874000" cy="863600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a-step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3441700"/>
            <a:ext cx="355600" cy="355600"/>
          </a:xfrm>
          <a:prstGeom prst="rect">
            <a:avLst/>
          </a:prstGeom>
        </p:spPr>
      </p:pic>
      <p:sp>
        <p:nvSpPr>
          <p:cNvPr id="10" name="ia-step-title-1"/>
          <p:cNvSpPr/>
          <p:nvPr/>
        </p:nvSpPr>
        <p:spPr>
          <a:xfrm>
            <a:off x="1905000" y="33782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Descubrimiento</a:t>
            </a:r>
            <a:endParaRPr lang="en-US" sz="1700" dirty="0"/>
          </a:p>
        </p:txBody>
      </p:sp>
      <p:sp>
        <p:nvSpPr>
          <p:cNvPr id="11" name="ia-step-body-1"/>
          <p:cNvSpPr/>
          <p:nvPr/>
        </p:nvSpPr>
        <p:spPr>
          <a:xfrm>
            <a:off x="4699000" y="33782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Síntesis de módulos, roles, prioridades y escenarios.</a:t>
            </a:r>
            <a:endParaRPr lang="en-US" sz="1300" dirty="0"/>
          </a:p>
        </p:txBody>
      </p:sp>
      <p:sp>
        <p:nvSpPr>
          <p:cNvPr id="12" name="ia-step-2"/>
          <p:cNvSpPr/>
          <p:nvPr/>
        </p:nvSpPr>
        <p:spPr>
          <a:xfrm>
            <a:off x="1016000" y="4292600"/>
            <a:ext cx="7874000" cy="863600"/>
          </a:xfrm>
          <a:prstGeom prst="roundRect">
            <a:avLst>
              <a:gd name="adj" fmla="val 22059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3" name="ia-step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4533900"/>
            <a:ext cx="355600" cy="355600"/>
          </a:xfrm>
          <a:prstGeom prst="rect">
            <a:avLst/>
          </a:prstGeom>
        </p:spPr>
      </p:pic>
      <p:sp>
        <p:nvSpPr>
          <p:cNvPr id="14" name="ia-step-title-2"/>
          <p:cNvSpPr/>
          <p:nvPr/>
        </p:nvSpPr>
        <p:spPr>
          <a:xfrm>
            <a:off x="1905000" y="44704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UX/UI</a:t>
            </a:r>
            <a:endParaRPr lang="en-US" sz="1700" dirty="0"/>
          </a:p>
        </p:txBody>
      </p:sp>
      <p:sp>
        <p:nvSpPr>
          <p:cNvPr id="15" name="ia-step-body-2"/>
          <p:cNvSpPr/>
          <p:nvPr/>
        </p:nvSpPr>
        <p:spPr>
          <a:xfrm>
            <a:off x="4699000" y="44704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Alternativas de flujos, jerarquía, estados y consistencia.</a:t>
            </a:r>
            <a:endParaRPr lang="en-US" sz="1300" dirty="0"/>
          </a:p>
        </p:txBody>
      </p:sp>
      <p:sp>
        <p:nvSpPr>
          <p:cNvPr id="16" name="ia-step-3"/>
          <p:cNvSpPr/>
          <p:nvPr/>
        </p:nvSpPr>
        <p:spPr>
          <a:xfrm>
            <a:off x="1016000" y="5384800"/>
            <a:ext cx="7874000" cy="863600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7" name="ia-step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5626100"/>
            <a:ext cx="355600" cy="355600"/>
          </a:xfrm>
          <a:prstGeom prst="rect">
            <a:avLst/>
          </a:prstGeom>
        </p:spPr>
      </p:pic>
      <p:sp>
        <p:nvSpPr>
          <p:cNvPr id="18" name="ia-step-title-3"/>
          <p:cNvSpPr/>
          <p:nvPr/>
        </p:nvSpPr>
        <p:spPr>
          <a:xfrm>
            <a:off x="1905000" y="55626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</a:t>
            </a:r>
            <a:endParaRPr lang="en-US" sz="1700" dirty="0"/>
          </a:p>
        </p:txBody>
      </p:sp>
      <p:sp>
        <p:nvSpPr>
          <p:cNvPr id="19" name="ia-step-body-3"/>
          <p:cNvSpPr/>
          <p:nvPr/>
        </p:nvSpPr>
        <p:spPr>
          <a:xfrm>
            <a:off x="4699000" y="55626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Código, pruebas, rutas, datos y documentación de apoyo.</a:t>
            </a:r>
            <a:endParaRPr lang="en-US" sz="1300" dirty="0"/>
          </a:p>
        </p:txBody>
      </p:sp>
      <p:sp>
        <p:nvSpPr>
          <p:cNvPr id="20" name="ia-step-4"/>
          <p:cNvSpPr/>
          <p:nvPr/>
        </p:nvSpPr>
        <p:spPr>
          <a:xfrm>
            <a:off x="1016000" y="6477000"/>
            <a:ext cx="7874000" cy="863600"/>
          </a:xfrm>
          <a:prstGeom prst="roundRect">
            <a:avLst>
              <a:gd name="adj" fmla="val 22059"/>
            </a:avLst>
          </a:prstGeom>
          <a:solidFill>
            <a:srgbClr val="D7DE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1" name="ia-step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" y="6718300"/>
            <a:ext cx="355600" cy="355600"/>
          </a:xfrm>
          <a:prstGeom prst="rect">
            <a:avLst/>
          </a:prstGeom>
        </p:spPr>
      </p:pic>
      <p:sp>
        <p:nvSpPr>
          <p:cNvPr id="22" name="ia-step-title-4"/>
          <p:cNvSpPr/>
          <p:nvPr/>
        </p:nvSpPr>
        <p:spPr>
          <a:xfrm>
            <a:off x="1905000" y="66548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700" dirty="0"/>
          </a:p>
        </p:txBody>
      </p:sp>
      <p:sp>
        <p:nvSpPr>
          <p:cNvPr id="23" name="ia-step-body-4"/>
          <p:cNvSpPr/>
          <p:nvPr/>
        </p:nvSpPr>
        <p:spPr>
          <a:xfrm>
            <a:off x="4699000" y="66548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errores, auditoría de enlaces y regresión.</a:t>
            </a:r>
            <a:endParaRPr lang="en-US" sz="1300" dirty="0"/>
          </a:p>
        </p:txBody>
      </p:sp>
      <p:sp>
        <p:nvSpPr>
          <p:cNvPr id="24" name="human-card"/>
          <p:cNvSpPr/>
          <p:nvPr/>
        </p:nvSpPr>
        <p:spPr>
          <a:xfrm>
            <a:off x="9652000" y="3200400"/>
            <a:ext cx="5588000" cy="4140200"/>
          </a:xfrm>
          <a:prstGeom prst="roundRect">
            <a:avLst>
              <a:gd name="adj" fmla="val 6748"/>
            </a:avLst>
          </a:prstGeom>
          <a:solidFill>
            <a:srgbClr val="FFF6D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5" name="human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3683000"/>
            <a:ext cx="558800" cy="558800"/>
          </a:xfrm>
          <a:prstGeom prst="rect">
            <a:avLst/>
          </a:prstGeom>
        </p:spPr>
      </p:pic>
      <p:sp>
        <p:nvSpPr>
          <p:cNvPr id="26" name="human-card-kicker"/>
          <p:cNvSpPr/>
          <p:nvPr/>
        </p:nvSpPr>
        <p:spPr>
          <a:xfrm>
            <a:off x="11049000" y="3771900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 HUMANO</a:t>
            </a:r>
            <a:endParaRPr lang="en-US" sz="1300" dirty="0"/>
          </a:p>
        </p:txBody>
      </p:sp>
      <p:sp>
        <p:nvSpPr>
          <p:cNvPr id="27" name="human-card-title"/>
          <p:cNvSpPr/>
          <p:nvPr/>
        </p:nvSpPr>
        <p:spPr>
          <a:xfrm>
            <a:off x="10134600" y="4572000"/>
            <a:ext cx="419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altLang="en-US" sz="25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autora define, revisa y corrige.</a:t>
            </a:r>
            <a:endParaRPr lang="en-US" sz="2500" dirty="0"/>
          </a:p>
        </p:txBody>
      </p:sp>
      <p:sp>
        <p:nvSpPr>
          <p:cNvPr id="28" name="human-card-body"/>
          <p:cNvSpPr/>
          <p:nvPr/>
        </p:nvSpPr>
        <p:spPr>
          <a:xfrm>
            <a:off x="10134600" y="55372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405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no reemplaza la decisión de producto: propone, acelera y ayuda a verificar; el contexto educativo define qué se conserva.</a:t>
            </a:r>
            <a:endParaRPr lang="en-US" sz="1700" dirty="0"/>
          </a:p>
        </p:txBody>
      </p:sp>
      <p:sp>
        <p:nvSpPr>
          <p:cNvPr id="29" name="human-card-rule"/>
          <p:cNvSpPr/>
          <p:nvPr/>
        </p:nvSpPr>
        <p:spPr>
          <a:xfrm>
            <a:off x="10134600" y="6731000"/>
            <a:ext cx="4191000" cy="9144"/>
          </a:xfrm>
          <a:prstGeom prst="line">
            <a:avLst/>
          </a:prstGeom>
          <a:ln w="25400">
            <a:solidFill>
              <a:srgbClr val="D1B35A"/>
            </a:solidFill>
            <a:prstDash val="solid"/>
          </a:ln>
        </p:spPr>
      </p:sp>
      <p:sp>
        <p:nvSpPr>
          <p:cNvPr id="30" name="human-card-foot"/>
          <p:cNvSpPr/>
          <p:nvPr/>
        </p:nvSpPr>
        <p:spPr>
          <a:xfrm>
            <a:off x="10134600" y="69088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→ evaluar → ajustar → validar</a:t>
            </a:r>
            <a:endParaRPr lang="en-US" sz="1200" dirty="0"/>
          </a:p>
        </p:txBody>
      </p:sp>
      <p:sp>
        <p:nvSpPr>
          <p:cNvPr id="31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h"/>
          <p:cNvSpPr/>
          <p:nvPr/>
        </p:nvSpPr>
        <p:spPr>
          <a:xfrm>
            <a:off x="14097000" y="762000"/>
            <a:ext cx="1397000" cy="9144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3" name="corner-v"/>
          <p:cNvSpPr/>
          <p:nvPr/>
        </p:nvSpPr>
        <p:spPr>
          <a:xfrm>
            <a:off x="15494000" y="762000"/>
            <a:ext cx="9144" cy="1143000"/>
          </a:xfrm>
          <a:prstGeom prst="line">
            <a:avLst/>
          </a:prstGeom>
          <a:ln w="50800">
            <a:solidFill>
              <a:srgbClr val="F4C542"/>
            </a:solidFill>
            <a:prstDash val="solid"/>
          </a:ln>
        </p:spPr>
      </p:sp>
      <p:sp>
        <p:nvSpPr>
          <p:cNvPr id="4" name="accent-bar"/>
          <p:cNvSpPr/>
          <p:nvPr/>
        </p:nvSpPr>
        <p:spPr>
          <a:xfrm>
            <a:off x="1016000" y="1955800"/>
            <a:ext cx="1587500" cy="114300"/>
          </a:xfrm>
          <a:prstGeom prst="roundRect">
            <a:avLst>
              <a:gd name="adj" fmla="val 55556"/>
            </a:avLst>
          </a:prstGeom>
          <a:solidFill>
            <a:srgbClr val="F4C542"/>
          </a:solidFill>
          <a:ln/>
        </p:spPr>
      </p:sp>
      <p:sp>
        <p:nvSpPr>
          <p:cNvPr id="5" name="slide-kicker"/>
          <p:cNvSpPr/>
          <p:nvPr/>
        </p:nvSpPr>
        <p:spPr>
          <a:xfrm>
            <a:off x="1016000" y="812800"/>
            <a:ext cx="419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CIERRE Y EVOLUCIÓN</a:t>
            </a:r>
            <a:endParaRPr lang="en-US" sz="1400" dirty="0"/>
          </a:p>
        </p:txBody>
      </p:sp>
      <p:sp>
        <p:nvSpPr>
          <p:cNvPr id="6" name="slide-title"/>
          <p:cNvSpPr/>
          <p:nvPr/>
        </p:nvSpPr>
        <p:spPr>
          <a:xfrm>
            <a:off x="1016000" y="1244600"/>
            <a:ext cx="1041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Validación, límites y próximos pasos</a:t>
            </a:r>
            <a:endParaRPr lang="en-US" sz="4200" dirty="0"/>
          </a:p>
        </p:txBody>
      </p:sp>
      <p:sp>
        <p:nvSpPr>
          <p:cNvPr id="7" name="validation-card"/>
          <p:cNvSpPr/>
          <p:nvPr/>
        </p:nvSpPr>
        <p:spPr>
          <a:xfrm>
            <a:off x="1016000" y="2921000"/>
            <a:ext cx="7366000" cy="38100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valida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0" y="3365500"/>
            <a:ext cx="533400" cy="533400"/>
          </a:xfrm>
          <a:prstGeom prst="rect">
            <a:avLst/>
          </a:prstGeom>
        </p:spPr>
      </p:pic>
      <p:sp>
        <p:nvSpPr>
          <p:cNvPr id="9" name="validation-kicker"/>
          <p:cNvSpPr/>
          <p:nvPr/>
        </p:nvSpPr>
        <p:spPr>
          <a:xfrm>
            <a:off x="2260600" y="34544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DEL MVP</a:t>
            </a:r>
            <a:endParaRPr lang="en-US" sz="1300" dirty="0"/>
          </a:p>
        </p:txBody>
      </p:sp>
      <p:sp>
        <p:nvSpPr>
          <p:cNvPr id="10" name="validation-title"/>
          <p:cNvSpPr/>
          <p:nvPr/>
        </p:nvSpPr>
        <p:spPr>
          <a:xfrm>
            <a:off x="1460500" y="4267200"/>
            <a:ext cx="482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Listo para demostrar</a:t>
            </a:r>
            <a:endParaRPr lang="en-US" sz="2800" dirty="0"/>
          </a:p>
        </p:txBody>
      </p:sp>
      <p:sp>
        <p:nvSpPr>
          <p:cNvPr id="11" name="validation-stat-1"/>
          <p:cNvSpPr/>
          <p:nvPr/>
        </p:nvSpPr>
        <p:spPr>
          <a:xfrm>
            <a:off x="1460500" y="5105400"/>
            <a:ext cx="1752600" cy="990600"/>
          </a:xfrm>
          <a:prstGeom prst="roundRect">
            <a:avLst>
              <a:gd name="adj" fmla="val 17949"/>
            </a:avLst>
          </a:prstGeom>
          <a:solidFill>
            <a:srgbClr val="EAF6F1"/>
          </a:solidFill>
          <a:ln/>
        </p:spPr>
      </p:sp>
      <p:sp>
        <p:nvSpPr>
          <p:cNvPr id="12" name="validation-stat-1-value"/>
          <p:cNvSpPr/>
          <p:nvPr/>
        </p:nvSpPr>
        <p:spPr>
          <a:xfrm>
            <a:off x="1460500" y="5295900"/>
            <a:ext cx="175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5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500" dirty="0"/>
          </a:p>
        </p:txBody>
      </p:sp>
      <p:sp>
        <p:nvSpPr>
          <p:cNvPr id="13" name="validation-stat-1-label"/>
          <p:cNvSpPr/>
          <p:nvPr/>
        </p:nvSpPr>
        <p:spPr>
          <a:xfrm>
            <a:off x="1460500" y="5727700"/>
            <a:ext cx="1752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</a:t>
            </a:r>
            <a:endParaRPr lang="en-US" sz="1100" dirty="0"/>
          </a:p>
        </p:txBody>
      </p:sp>
      <p:sp>
        <p:nvSpPr>
          <p:cNvPr id="14" name="validation-stat-2"/>
          <p:cNvSpPr/>
          <p:nvPr/>
        </p:nvSpPr>
        <p:spPr>
          <a:xfrm>
            <a:off x="3429000" y="5105400"/>
            <a:ext cx="1752600" cy="990600"/>
          </a:xfrm>
          <a:prstGeom prst="roundRect">
            <a:avLst>
              <a:gd name="adj" fmla="val 17949"/>
            </a:avLst>
          </a:prstGeom>
          <a:solidFill>
            <a:srgbClr val="D7DEE8"/>
          </a:solidFill>
          <a:ln/>
        </p:spPr>
      </p:sp>
      <p:sp>
        <p:nvSpPr>
          <p:cNvPr id="15" name="validation-stat-2-value"/>
          <p:cNvSpPr/>
          <p:nvPr/>
        </p:nvSpPr>
        <p:spPr>
          <a:xfrm>
            <a:off x="3429000" y="5295900"/>
            <a:ext cx="175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validation-stat-2-label"/>
          <p:cNvSpPr/>
          <p:nvPr/>
        </p:nvSpPr>
        <p:spPr>
          <a:xfrm>
            <a:off x="3429000" y="5727700"/>
            <a:ext cx="1752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TS</a:t>
            </a:r>
            <a:endParaRPr lang="en-US" sz="1100" dirty="0"/>
          </a:p>
        </p:txBody>
      </p:sp>
      <p:sp>
        <p:nvSpPr>
          <p:cNvPr id="17" name="validation-stat-3"/>
          <p:cNvSpPr/>
          <p:nvPr/>
        </p:nvSpPr>
        <p:spPr>
          <a:xfrm>
            <a:off x="5397500" y="5105400"/>
            <a:ext cx="1752600" cy="990600"/>
          </a:xfrm>
          <a:prstGeom prst="roundRect">
            <a:avLst>
              <a:gd name="adj" fmla="val 17949"/>
            </a:avLst>
          </a:prstGeom>
          <a:solidFill>
            <a:srgbClr val="FFF6D7"/>
          </a:solidFill>
          <a:ln/>
        </p:spPr>
      </p:sp>
      <p:sp>
        <p:nvSpPr>
          <p:cNvPr id="18" name="validation-stat-3-value"/>
          <p:cNvSpPr/>
          <p:nvPr/>
        </p:nvSpPr>
        <p:spPr>
          <a:xfrm>
            <a:off x="5397500" y="5295900"/>
            <a:ext cx="175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validation-stat-3-label"/>
          <p:cNvSpPr/>
          <p:nvPr/>
        </p:nvSpPr>
        <p:spPr>
          <a:xfrm>
            <a:off x="5397500" y="5727700"/>
            <a:ext cx="1752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endParaRPr lang="en-US" sz="1100" dirty="0"/>
          </a:p>
        </p:txBody>
      </p:sp>
      <p:sp>
        <p:nvSpPr>
          <p:cNvPr id="20" name="validation-foot"/>
          <p:cNvSpPr/>
          <p:nvPr/>
        </p:nvSpPr>
        <p:spPr>
          <a:xfrm>
            <a:off x="1460500" y="6286500"/>
            <a:ext cx="584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2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Flujos auditados: QR, actividades, entregas, justificaciones y navegación.</a:t>
            </a:r>
            <a:endParaRPr lang="en-US" sz="1200" dirty="0"/>
          </a:p>
        </p:txBody>
      </p:sp>
      <p:sp>
        <p:nvSpPr>
          <p:cNvPr id="21" name="next-label"/>
          <p:cNvSpPr/>
          <p:nvPr/>
        </p:nvSpPr>
        <p:spPr>
          <a:xfrm>
            <a:off x="9144000" y="2959100"/>
            <a:ext cx="317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PRÓXIMAS ITERACIONES</a:t>
            </a:r>
            <a:endParaRPr lang="en-US" sz="1400" dirty="0"/>
          </a:p>
        </p:txBody>
      </p:sp>
      <p:sp>
        <p:nvSpPr>
          <p:cNvPr id="22" name="next-card-1"/>
          <p:cNvSpPr/>
          <p:nvPr/>
        </p:nvSpPr>
        <p:spPr>
          <a:xfrm>
            <a:off x="9144000" y="3403600"/>
            <a:ext cx="6096000" cy="990600"/>
          </a:xfrm>
          <a:prstGeom prst="roundRect">
            <a:avLst>
              <a:gd name="adj" fmla="val 1923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23" name="next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3695700"/>
            <a:ext cx="355600" cy="355600"/>
          </a:xfrm>
          <a:prstGeom prst="rect">
            <a:avLst/>
          </a:prstGeom>
        </p:spPr>
      </p:pic>
      <p:sp>
        <p:nvSpPr>
          <p:cNvPr id="24" name="next-title-1"/>
          <p:cNvSpPr/>
          <p:nvPr/>
        </p:nvSpPr>
        <p:spPr>
          <a:xfrm>
            <a:off x="10033000" y="3606800"/>
            <a:ext cx="469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</a:t>
            </a:r>
            <a:endParaRPr lang="en-US" sz="1600" dirty="0"/>
          </a:p>
        </p:txBody>
      </p:sp>
      <p:sp>
        <p:nvSpPr>
          <p:cNvPr id="25" name="next-body-1"/>
          <p:cNvSpPr/>
          <p:nvPr/>
        </p:nvSpPr>
        <p:spPr>
          <a:xfrm>
            <a:off x="10033000" y="3937000"/>
            <a:ext cx="469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de vencimiento y resolución de justificaciones.</a:t>
            </a:r>
            <a:endParaRPr lang="en-US" sz="1200" dirty="0"/>
          </a:p>
        </p:txBody>
      </p:sp>
      <p:sp>
        <p:nvSpPr>
          <p:cNvPr id="26" name="next-card-2"/>
          <p:cNvSpPr/>
          <p:nvPr/>
        </p:nvSpPr>
        <p:spPr>
          <a:xfrm>
            <a:off x="9144000" y="4597400"/>
            <a:ext cx="6096000" cy="990600"/>
          </a:xfrm>
          <a:prstGeom prst="roundRect">
            <a:avLst>
              <a:gd name="adj" fmla="val 1923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27" name="next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4889500"/>
            <a:ext cx="355600" cy="355600"/>
          </a:xfrm>
          <a:prstGeom prst="rect">
            <a:avLst/>
          </a:prstGeom>
        </p:spPr>
      </p:pic>
      <p:sp>
        <p:nvSpPr>
          <p:cNvPr id="28" name="next-title-2"/>
          <p:cNvSpPr/>
          <p:nvPr/>
        </p:nvSpPr>
        <p:spPr>
          <a:xfrm>
            <a:off x="10033000" y="4800600"/>
            <a:ext cx="469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real del Alumno</a:t>
            </a:r>
            <a:endParaRPr lang="en-US" sz="1600" dirty="0"/>
          </a:p>
        </p:txBody>
      </p:sp>
      <p:sp>
        <p:nvSpPr>
          <p:cNvPr id="29" name="next-body-2"/>
          <p:cNvSpPr/>
          <p:nvPr/>
        </p:nvSpPr>
        <p:spPr>
          <a:xfrm>
            <a:off x="10033000" y="5130800"/>
            <a:ext cx="469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Adjuntos directamente desde la actividad pendiente.</a:t>
            </a:r>
            <a:endParaRPr lang="en-US" sz="1200" dirty="0"/>
          </a:p>
        </p:txBody>
      </p:sp>
      <p:sp>
        <p:nvSpPr>
          <p:cNvPr id="30" name="next-card-3"/>
          <p:cNvSpPr/>
          <p:nvPr/>
        </p:nvSpPr>
        <p:spPr>
          <a:xfrm>
            <a:off x="9144000" y="5791200"/>
            <a:ext cx="6096000" cy="990600"/>
          </a:xfrm>
          <a:prstGeom prst="roundRect">
            <a:avLst>
              <a:gd name="adj" fmla="val 1923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pic>
        <p:nvPicPr>
          <p:cNvPr id="31" name="next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6083300"/>
            <a:ext cx="355600" cy="355600"/>
          </a:xfrm>
          <a:prstGeom prst="rect">
            <a:avLst/>
          </a:prstGeom>
        </p:spPr>
      </p:pic>
      <p:sp>
        <p:nvSpPr>
          <p:cNvPr id="32" name="next-title-3"/>
          <p:cNvSpPr/>
          <p:nvPr/>
        </p:nvSpPr>
        <p:spPr>
          <a:xfrm>
            <a:off x="10033000" y="5994400"/>
            <a:ext cx="469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administrativos</a:t>
            </a:r>
            <a:endParaRPr lang="en-US" sz="1600" dirty="0"/>
          </a:p>
        </p:txBody>
      </p:sp>
      <p:sp>
        <p:nvSpPr>
          <p:cNvPr id="33" name="next-body-3"/>
          <p:cNvSpPr/>
          <p:nvPr/>
        </p:nvSpPr>
        <p:spPr>
          <a:xfrm>
            <a:off x="10033000" y="6324600"/>
            <a:ext cx="469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Tablero de asistencia y alertas por comisión.</a:t>
            </a:r>
            <a:endParaRPr lang="en-US" sz="1200" dirty="0"/>
          </a:p>
        </p:txBody>
      </p:sp>
      <p:sp>
        <p:nvSpPr>
          <p:cNvPr id="34" name="closing-band"/>
          <p:cNvSpPr/>
          <p:nvPr/>
        </p:nvSpPr>
        <p:spPr>
          <a:xfrm>
            <a:off x="1016000" y="7493000"/>
            <a:ext cx="14224000" cy="736600"/>
          </a:xfrm>
          <a:prstGeom prst="roundRect">
            <a:avLst>
              <a:gd name="adj" fmla="val 31034"/>
            </a:avLst>
          </a:prstGeom>
          <a:solidFill>
            <a:srgbClr val="F4C542"/>
          </a:solidFill>
          <a:ln/>
        </p:spPr>
      </p:sp>
      <p:sp>
        <p:nvSpPr>
          <p:cNvPr id="35" name="closing-quote"/>
          <p:cNvSpPr/>
          <p:nvPr/>
        </p:nvSpPr>
        <p:spPr>
          <a:xfrm>
            <a:off x="1397000" y="7683500"/>
            <a:ext cx="134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 académicos dispersos → recorridos móviles claros, trazables y orientados por rol.</a:t>
            </a:r>
            <a:endParaRPr lang="en-US" sz="1900" dirty="0"/>
          </a:p>
        </p:txBody>
      </p:sp>
      <p:sp>
        <p:nvSpPr>
          <p:cNvPr id="36" name="slide-number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Asistencia Instituto — Informe UX/UI</dc:title>
  <dc:subject>Asistencia Instituto — Informe UX/UI</dc:subject>
  <dc:creator>Manus</dc:creator>
  <cp:lastModifiedBy>Manus</cp:lastModifiedBy>
  <cp:revision>1</cp:revision>
  <dcterms:created xsi:type="dcterms:W3CDTF">2026-08-23T01:24:45Z</dcterms:created>
  <dcterms:modified xsi:type="dcterms:W3CDTF">2026-08-23T01:24:45Z</dcterms:modified>
</cp:coreProperties>
</file>